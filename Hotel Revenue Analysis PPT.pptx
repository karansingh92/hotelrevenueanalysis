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68" r:id="rId5"/>
    <p:sldId id="273" r:id="rId6"/>
    <p:sldId id="272" r:id="rId7"/>
    <p:sldId id="278" r:id="rId8"/>
    <p:sldId id="275" r:id="rId9"/>
    <p:sldId id="279" r:id="rId10"/>
    <p:sldId id="276" r:id="rId11"/>
    <p:sldId id="280" r:id="rId12"/>
    <p:sldId id="281" r:id="rId13"/>
    <p:sldId id="282" r:id="rId14"/>
    <p:sldId id="283" r:id="rId15"/>
    <p:sldId id="284" r:id="rId16"/>
    <p:sldId id="285" r:id="rId17"/>
  </p:sldIdLst>
  <p:sldSz cx="18288000" cy="10287000"/>
  <p:notesSz cx="6858000" cy="9144000"/>
  <p:embeddedFontLst>
    <p:embeddedFont>
      <p:font typeface="Montserrat" panose="020B0604020202020204" charset="0"/>
      <p:regular r:id="rId19"/>
      <p:bold r:id="rId20"/>
      <p:italic r:id="rId21"/>
      <p:boldItalic r:id="rId22"/>
    </p:embeddedFont>
    <p:embeddedFont>
      <p:font typeface="Calibri" panose="020F0502020204030204" pitchFamily="34" charset="0"/>
      <p:regular r:id="rId23"/>
      <p:bold r:id="rId24"/>
      <p:italic r:id="rId25"/>
      <p:boldItalic r:id="rId26"/>
    </p:embeddedFont>
    <p:embeddedFont>
      <p:font typeface="Open Sans Bold" panose="020B0604020202020204" charset="0"/>
      <p:regular r:id="rId27"/>
    </p:embeddedFont>
    <p:embeddedFont>
      <p:font typeface="Arial Rounded MT Bold" panose="020F0704030504030204" pitchFamily="34" charset="0"/>
      <p:regular r:id="rId28"/>
    </p:embeddedFont>
    <p:embeddedFont>
      <p:font typeface="Montserrat Bold" panose="020B0604020202020204" charset="0"/>
      <p:regular r:id="rId29"/>
    </p:embeddedFont>
    <p:embeddedFont>
      <p:font typeface="Roboto" panose="020B0604020202020204" charset="0"/>
      <p:regular r:id="rId30"/>
      <p:bold r:id="rId31"/>
      <p:italic r:id="rId32"/>
      <p:boldItalic r:id="rId33"/>
    </p:embeddedFont>
    <p:embeddedFont>
      <p:font typeface="Roboto Bold" panose="020B0604020202020204" charset="0"/>
      <p:regular r:id="rId34"/>
    </p:embeddedFont>
    <p:embeddedFont>
      <p:font typeface="Open Sans" panose="020B0604020202020204" charset="0"/>
      <p:regular r:id="rId35"/>
      <p:bold r:id="rId36"/>
      <p:italic r:id="rId37"/>
      <p:boldItalic r:id="rId38"/>
    </p:embeddedFont>
    <p:embeddedFont>
      <p:font typeface="Berlin Sans FB Demi" panose="020E0802020502020306" pitchFamily="34" charset="0"/>
      <p:bold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5959"/>
    <a:srgbClr val="2F6A6A"/>
    <a:srgbClr val="387C7C"/>
    <a:srgbClr val="63A3A3"/>
    <a:srgbClr val="4C8F8F"/>
    <a:srgbClr val="7CB8B8"/>
    <a:srgbClr val="6FAAAA"/>
    <a:srgbClr val="539494"/>
    <a:srgbClr val="3D7F7F"/>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48"/>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54D32-48FD-4EEE-8462-6038A094BFEA}" type="datetimeFigureOut">
              <a:rPr lang="en-IN" smtClean="0"/>
              <a:t>03-03-2026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75051-1D7A-4184-BD75-98A03EE6F22E}" type="slidenum">
              <a:rPr lang="en-IN" smtClean="0"/>
              <a:t>‹#›</a:t>
            </a:fld>
            <a:endParaRPr lang="en-IN"/>
          </a:p>
        </p:txBody>
      </p:sp>
    </p:spTree>
    <p:extLst>
      <p:ext uri="{BB962C8B-B14F-4D97-AF65-F5344CB8AC3E}">
        <p14:creationId xmlns:p14="http://schemas.microsoft.com/office/powerpoint/2010/main" val="1560834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B75051-1D7A-4184-BD75-98A03EE6F22E}" type="slidenum">
              <a:rPr lang="en-IN" smtClean="0"/>
              <a:t>4</a:t>
            </a:fld>
            <a:endParaRPr lang="en-IN"/>
          </a:p>
        </p:txBody>
      </p:sp>
    </p:spTree>
    <p:extLst>
      <p:ext uri="{BB962C8B-B14F-4D97-AF65-F5344CB8AC3E}">
        <p14:creationId xmlns:p14="http://schemas.microsoft.com/office/powerpoint/2010/main" val="3519763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B75051-1D7A-4184-BD75-98A03EE6F22E}" type="slidenum">
              <a:rPr lang="en-IN" smtClean="0"/>
              <a:t>15</a:t>
            </a:fld>
            <a:endParaRPr lang="en-IN"/>
          </a:p>
        </p:txBody>
      </p:sp>
    </p:spTree>
    <p:extLst>
      <p:ext uri="{BB962C8B-B14F-4D97-AF65-F5344CB8AC3E}">
        <p14:creationId xmlns:p14="http://schemas.microsoft.com/office/powerpoint/2010/main" val="205252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379610" cy="379610"/>
          </a:xfrm>
          <a:custGeom>
            <a:avLst/>
            <a:gdLst/>
            <a:ahLst/>
            <a:cxnLst/>
            <a:rect l="l" t="t" r="r" b="b"/>
            <a:pathLst>
              <a:path w="379610" h="379610">
                <a:moveTo>
                  <a:pt x="0" y="0"/>
                </a:moveTo>
                <a:lnTo>
                  <a:pt x="379610" y="0"/>
                </a:lnTo>
                <a:lnTo>
                  <a:pt x="379610" y="379610"/>
                </a:lnTo>
                <a:lnTo>
                  <a:pt x="0" y="37961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1719871" y="0"/>
            <a:ext cx="6568129" cy="10287000"/>
            <a:chOff x="0" y="0"/>
            <a:chExt cx="1729878" cy="2990839"/>
          </a:xfrm>
        </p:grpSpPr>
        <p:sp>
          <p:nvSpPr>
            <p:cNvPr id="4" name="Freeform 4"/>
            <p:cNvSpPr/>
            <p:nvPr/>
          </p:nvSpPr>
          <p:spPr>
            <a:xfrm>
              <a:off x="0" y="0"/>
              <a:ext cx="1729878" cy="2990839"/>
            </a:xfrm>
            <a:custGeom>
              <a:avLst/>
              <a:gdLst/>
              <a:ahLst/>
              <a:cxnLst/>
              <a:rect l="l" t="t" r="r" b="b"/>
              <a:pathLst>
                <a:path w="1729878" h="2990839">
                  <a:moveTo>
                    <a:pt x="0" y="0"/>
                  </a:moveTo>
                  <a:lnTo>
                    <a:pt x="1729878" y="0"/>
                  </a:lnTo>
                  <a:lnTo>
                    <a:pt x="1729878" y="2990839"/>
                  </a:lnTo>
                  <a:lnTo>
                    <a:pt x="0" y="2990839"/>
                  </a:lnTo>
                  <a:close/>
                </a:path>
              </a:pathLst>
            </a:custGeom>
            <a:solidFill>
              <a:srgbClr val="FBB111"/>
            </a:solidFill>
          </p:spPr>
        </p:sp>
        <p:sp>
          <p:nvSpPr>
            <p:cNvPr id="5" name="TextBox 5"/>
            <p:cNvSpPr txBox="1"/>
            <p:nvPr/>
          </p:nvSpPr>
          <p:spPr>
            <a:xfrm>
              <a:off x="0" y="-19050"/>
              <a:ext cx="1729878" cy="3009889"/>
            </a:xfrm>
            <a:prstGeom prst="rect">
              <a:avLst/>
            </a:prstGeom>
          </p:spPr>
          <p:txBody>
            <a:bodyPr lIns="50800" tIns="50800" rIns="50800" bIns="50800" rtlCol="0" anchor="ctr"/>
            <a:lstStyle/>
            <a:p>
              <a:pPr algn="ctr">
                <a:lnSpc>
                  <a:spcPts val="1874"/>
                </a:lnSpc>
              </a:pPr>
              <a:endParaRPr>
                <a:solidFill>
                  <a:srgbClr val="FFC000"/>
                </a:solidFill>
              </a:endParaRPr>
            </a:p>
          </p:txBody>
        </p:sp>
      </p:grpSp>
      <p:sp>
        <p:nvSpPr>
          <p:cNvPr id="6" name="Freeform 6"/>
          <p:cNvSpPr/>
          <p:nvPr/>
        </p:nvSpPr>
        <p:spPr>
          <a:xfrm>
            <a:off x="11457791" y="-170460"/>
            <a:ext cx="7092289" cy="13404670"/>
          </a:xfrm>
          <a:custGeom>
            <a:avLst/>
            <a:gdLst/>
            <a:ahLst/>
            <a:cxnLst/>
            <a:rect l="l" t="t" r="r" b="b"/>
            <a:pathLst>
              <a:path w="7092289" h="13404670">
                <a:moveTo>
                  <a:pt x="0" y="0"/>
                </a:moveTo>
                <a:lnTo>
                  <a:pt x="7092289" y="0"/>
                </a:lnTo>
                <a:lnTo>
                  <a:pt x="7092289" y="13404670"/>
                </a:lnTo>
                <a:lnTo>
                  <a:pt x="0" y="13404670"/>
                </a:lnTo>
                <a:lnTo>
                  <a:pt x="0" y="0"/>
                </a:lnTo>
                <a:close/>
              </a:path>
            </a:pathLst>
          </a:custGeom>
          <a:blipFill>
            <a:blip r:embed="rId4">
              <a:alphaModFix amt="8999"/>
              <a:extLst>
                <a:ext uri="{96DAC541-7B7A-43D3-8B79-37D633B846F1}">
                  <asvg:svgBlip xmlns="" xmlns:asvg="http://schemas.microsoft.com/office/drawing/2016/SVG/main" r:embed="rId5"/>
                </a:ext>
              </a:extLst>
            </a:blip>
            <a:stretch>
              <a:fillRect/>
            </a:stretch>
          </a:blipFill>
        </p:spPr>
      </p:sp>
      <p:grpSp>
        <p:nvGrpSpPr>
          <p:cNvPr id="7" name="Group 7"/>
          <p:cNvGrpSpPr/>
          <p:nvPr/>
        </p:nvGrpSpPr>
        <p:grpSpPr>
          <a:xfrm>
            <a:off x="9989128" y="1775032"/>
            <a:ext cx="5014807" cy="7483268"/>
            <a:chOff x="0" y="0"/>
            <a:chExt cx="4445000" cy="6632982"/>
          </a:xfrm>
        </p:grpSpPr>
        <p:sp>
          <p:nvSpPr>
            <p:cNvPr id="8" name="Freeform 8"/>
            <p:cNvSpPr/>
            <p:nvPr/>
          </p:nvSpPr>
          <p:spPr>
            <a:xfrm rot="-54000">
              <a:off x="-15659" y="142"/>
              <a:ext cx="4476317" cy="6632699"/>
            </a:xfrm>
            <a:custGeom>
              <a:avLst/>
              <a:gdLst/>
              <a:ahLst/>
              <a:cxnLst/>
              <a:rect l="l" t="t" r="r" b="b"/>
              <a:pathLst>
                <a:path w="4476317" h="6632699">
                  <a:moveTo>
                    <a:pt x="2186066" y="6632431"/>
                  </a:moveTo>
                  <a:cubicBezTo>
                    <a:pt x="959397" y="6613161"/>
                    <a:pt x="-19824" y="5557598"/>
                    <a:pt x="305" y="4276264"/>
                  </a:cubicBezTo>
                  <a:lnTo>
                    <a:pt x="31561" y="2286615"/>
                  </a:lnTo>
                  <a:cubicBezTo>
                    <a:pt x="51690" y="1005281"/>
                    <a:pt x="1063584" y="-19003"/>
                    <a:pt x="2290252" y="267"/>
                  </a:cubicBezTo>
                  <a:cubicBezTo>
                    <a:pt x="3516921" y="19537"/>
                    <a:pt x="4496142" y="1075100"/>
                    <a:pt x="4476013" y="2356434"/>
                  </a:cubicBezTo>
                  <a:lnTo>
                    <a:pt x="4444757" y="4346083"/>
                  </a:lnTo>
                  <a:cubicBezTo>
                    <a:pt x="4424628" y="5627417"/>
                    <a:pt x="3412735" y="6651701"/>
                    <a:pt x="2186066" y="6632431"/>
                  </a:cubicBezTo>
                  <a:close/>
                </a:path>
              </a:pathLst>
            </a:custGeom>
            <a:blipFill>
              <a:blip r:embed="rId6"/>
              <a:stretch>
                <a:fillRect l="-18079" t="-703" r="-33695" b="-1855"/>
              </a:stretch>
            </a:blipFill>
            <a:ln w="190500" cap="sq">
              <a:solidFill>
                <a:srgbClr val="FAFAFA"/>
              </a:solidFill>
              <a:prstDash val="solid"/>
              <a:miter/>
            </a:ln>
          </p:spPr>
        </p:sp>
      </p:grpSp>
      <p:grpSp>
        <p:nvGrpSpPr>
          <p:cNvPr id="9" name="Group 9"/>
          <p:cNvGrpSpPr/>
          <p:nvPr/>
        </p:nvGrpSpPr>
        <p:grpSpPr>
          <a:xfrm>
            <a:off x="841512" y="7051159"/>
            <a:ext cx="4198230" cy="669173"/>
            <a:chOff x="0" y="0"/>
            <a:chExt cx="1105707" cy="176243"/>
          </a:xfrm>
        </p:grpSpPr>
        <p:sp>
          <p:nvSpPr>
            <p:cNvPr id="10" name="Freeform 10"/>
            <p:cNvSpPr/>
            <p:nvPr/>
          </p:nvSpPr>
          <p:spPr>
            <a:xfrm>
              <a:off x="0" y="0"/>
              <a:ext cx="1105707" cy="176243"/>
            </a:xfrm>
            <a:custGeom>
              <a:avLst/>
              <a:gdLst/>
              <a:ahLst/>
              <a:cxnLst/>
              <a:rect l="l" t="t" r="r" b="b"/>
              <a:pathLst>
                <a:path w="1105707" h="176243">
                  <a:moveTo>
                    <a:pt x="88122" y="0"/>
                  </a:moveTo>
                  <a:lnTo>
                    <a:pt x="1017585" y="0"/>
                  </a:lnTo>
                  <a:cubicBezTo>
                    <a:pt x="1040956" y="0"/>
                    <a:pt x="1063370" y="9284"/>
                    <a:pt x="1079896" y="25810"/>
                  </a:cubicBezTo>
                  <a:cubicBezTo>
                    <a:pt x="1096422" y="42336"/>
                    <a:pt x="1105707" y="64750"/>
                    <a:pt x="1105707" y="88122"/>
                  </a:cubicBezTo>
                  <a:lnTo>
                    <a:pt x="1105707" y="88122"/>
                  </a:lnTo>
                  <a:cubicBezTo>
                    <a:pt x="1105707" y="136790"/>
                    <a:pt x="1066253" y="176243"/>
                    <a:pt x="1017585" y="176243"/>
                  </a:cubicBezTo>
                  <a:lnTo>
                    <a:pt x="88122" y="176243"/>
                  </a:lnTo>
                  <a:cubicBezTo>
                    <a:pt x="64750" y="176243"/>
                    <a:pt x="42336" y="166959"/>
                    <a:pt x="25810" y="150433"/>
                  </a:cubicBezTo>
                  <a:cubicBezTo>
                    <a:pt x="9284" y="133907"/>
                    <a:pt x="0" y="111493"/>
                    <a:pt x="0" y="88122"/>
                  </a:cubicBezTo>
                  <a:lnTo>
                    <a:pt x="0" y="88122"/>
                  </a:lnTo>
                  <a:cubicBezTo>
                    <a:pt x="0" y="64750"/>
                    <a:pt x="9284" y="42336"/>
                    <a:pt x="25810" y="25810"/>
                  </a:cubicBezTo>
                  <a:cubicBezTo>
                    <a:pt x="42336" y="9284"/>
                    <a:pt x="64750" y="0"/>
                    <a:pt x="88122" y="0"/>
                  </a:cubicBezTo>
                  <a:close/>
                </a:path>
              </a:pathLst>
            </a:custGeom>
            <a:solidFill>
              <a:srgbClr val="265959"/>
            </a:solidFill>
            <a:ln w="19050" cap="rnd">
              <a:solidFill>
                <a:srgbClr val="FFFFFF"/>
              </a:solidFill>
              <a:prstDash val="solid"/>
              <a:round/>
            </a:ln>
          </p:spPr>
        </p:sp>
        <p:sp>
          <p:nvSpPr>
            <p:cNvPr id="11" name="TextBox 11"/>
            <p:cNvSpPr txBox="1"/>
            <p:nvPr/>
          </p:nvSpPr>
          <p:spPr>
            <a:xfrm>
              <a:off x="0" y="-19050"/>
              <a:ext cx="1105707" cy="195293"/>
            </a:xfrm>
            <a:prstGeom prst="rect">
              <a:avLst/>
            </a:prstGeom>
          </p:spPr>
          <p:txBody>
            <a:bodyPr lIns="50800" tIns="50800" rIns="50800" bIns="50800" rtlCol="0" anchor="ctr"/>
            <a:lstStyle/>
            <a:p>
              <a:pPr algn="ctr">
                <a:lnSpc>
                  <a:spcPts val="1874"/>
                </a:lnSpc>
              </a:pPr>
              <a:endParaRPr/>
            </a:p>
          </p:txBody>
        </p:sp>
      </p:grpSp>
      <p:sp>
        <p:nvSpPr>
          <p:cNvPr id="12" name="AutoShape 12"/>
          <p:cNvSpPr/>
          <p:nvPr/>
        </p:nvSpPr>
        <p:spPr>
          <a:xfrm>
            <a:off x="3826945" y="7385745"/>
            <a:ext cx="967881" cy="0"/>
          </a:xfrm>
          <a:prstGeom prst="line">
            <a:avLst/>
          </a:prstGeom>
          <a:ln w="19050" cap="flat">
            <a:solidFill>
              <a:srgbClr val="FFFFFF"/>
            </a:solidFill>
            <a:prstDash val="solid"/>
            <a:headEnd type="none" w="sm" len="sm"/>
            <a:tailEnd type="arrow" w="med" len="sm"/>
          </a:ln>
        </p:spPr>
      </p:sp>
      <p:sp>
        <p:nvSpPr>
          <p:cNvPr id="13" name="TextBox 13"/>
          <p:cNvSpPr txBox="1"/>
          <p:nvPr/>
        </p:nvSpPr>
        <p:spPr>
          <a:xfrm>
            <a:off x="896525" y="1961958"/>
            <a:ext cx="7456349" cy="2271895"/>
          </a:xfrm>
          <a:prstGeom prst="rect">
            <a:avLst/>
          </a:prstGeom>
        </p:spPr>
        <p:txBody>
          <a:bodyPr lIns="0" tIns="0" rIns="0" bIns="0" rtlCol="0" anchor="t">
            <a:spAutoFit/>
          </a:bodyPr>
          <a:lstStyle/>
          <a:p>
            <a:pPr algn="l">
              <a:lnSpc>
                <a:spcPts val="5853"/>
              </a:lnSpc>
            </a:pPr>
            <a:r>
              <a:rPr lang="en-US" sz="6034" b="1" dirty="0">
                <a:solidFill>
                  <a:srgbClr val="E6E6E6"/>
                </a:solidFill>
                <a:latin typeface="Montserrat"/>
                <a:ea typeface="Montserrat"/>
                <a:cs typeface="Montserrat"/>
                <a:sym typeface="Montserrat"/>
              </a:rPr>
              <a:t>HOTEL REVENUE PERFORMANCE ANALYSIS</a:t>
            </a:r>
          </a:p>
        </p:txBody>
      </p:sp>
      <p:sp>
        <p:nvSpPr>
          <p:cNvPr id="14" name="TextBox 14"/>
          <p:cNvSpPr txBox="1"/>
          <p:nvPr/>
        </p:nvSpPr>
        <p:spPr>
          <a:xfrm>
            <a:off x="1408310" y="1054212"/>
            <a:ext cx="2559053" cy="290501"/>
          </a:xfrm>
          <a:prstGeom prst="rect">
            <a:avLst/>
          </a:prstGeom>
        </p:spPr>
        <p:txBody>
          <a:bodyPr lIns="0" tIns="0" rIns="0" bIns="0" rtlCol="0" anchor="t">
            <a:spAutoFit/>
          </a:bodyPr>
          <a:lstStyle/>
          <a:p>
            <a:pPr algn="r">
              <a:lnSpc>
                <a:spcPts val="2367"/>
              </a:lnSpc>
            </a:pPr>
            <a:r>
              <a:rPr lang="en-US" sz="1691" b="1">
                <a:solidFill>
                  <a:srgbClr val="FFFFFF"/>
                </a:solidFill>
                <a:latin typeface="Roboto Bold"/>
                <a:ea typeface="Roboto Bold"/>
                <a:cs typeface="Roboto Bold"/>
                <a:sym typeface="Roboto Bold"/>
              </a:rPr>
              <a:t>INFOSYS SPRINGBOARD</a:t>
            </a:r>
          </a:p>
        </p:txBody>
      </p:sp>
      <p:sp>
        <p:nvSpPr>
          <p:cNvPr id="15" name="TextBox 15"/>
          <p:cNvSpPr txBox="1"/>
          <p:nvPr/>
        </p:nvSpPr>
        <p:spPr>
          <a:xfrm>
            <a:off x="841512" y="4648669"/>
            <a:ext cx="7511362" cy="1925435"/>
          </a:xfrm>
          <a:prstGeom prst="rect">
            <a:avLst/>
          </a:prstGeom>
        </p:spPr>
        <p:txBody>
          <a:bodyPr lIns="0" tIns="0" rIns="0" bIns="0" rtlCol="0" anchor="t">
            <a:spAutoFit/>
          </a:bodyPr>
          <a:lstStyle/>
          <a:p>
            <a:pPr marL="0" lvl="1" indent="0" algn="just">
              <a:lnSpc>
                <a:spcPts val="2555"/>
              </a:lnSpc>
              <a:spcBef>
                <a:spcPct val="0"/>
              </a:spcBef>
            </a:pPr>
            <a:r>
              <a:rPr lang="en-US" sz="1825" dirty="0">
                <a:solidFill>
                  <a:srgbClr val="E6E6E6"/>
                </a:solidFill>
                <a:latin typeface="Open Sans"/>
                <a:ea typeface="Open Sans"/>
                <a:cs typeface="Open Sans"/>
                <a:sym typeface="Open Sans"/>
              </a:rPr>
              <a:t>This project presents a comprehensive analytical study of hotel revenue performance using Power BI. The dashboard evaluates key performance indicators such as Total Revenue, ADR, RevPAR, Occupancy Rate, Cancellation Rate, Seasonal Trends, and Booking Channel distribution to support strategic pricing and revenue optimization decisions.</a:t>
            </a:r>
          </a:p>
        </p:txBody>
      </p:sp>
      <p:sp>
        <p:nvSpPr>
          <p:cNvPr id="16" name="TextBox 16"/>
          <p:cNvSpPr txBox="1"/>
          <p:nvPr/>
        </p:nvSpPr>
        <p:spPr>
          <a:xfrm>
            <a:off x="12319860" y="1009650"/>
            <a:ext cx="847412" cy="231060"/>
          </a:xfrm>
          <a:prstGeom prst="rect">
            <a:avLst/>
          </a:prstGeom>
        </p:spPr>
        <p:txBody>
          <a:bodyPr lIns="0" tIns="0" rIns="0" bIns="0" rtlCol="0" anchor="t">
            <a:spAutoFit/>
          </a:bodyPr>
          <a:lstStyle/>
          <a:p>
            <a:pPr marL="0" lvl="1" indent="0" algn="ctr">
              <a:lnSpc>
                <a:spcPts val="1874"/>
              </a:lnSpc>
              <a:spcBef>
                <a:spcPct val="0"/>
              </a:spcBef>
            </a:pPr>
            <a:r>
              <a:rPr lang="en-US" sz="1453" spc="-79" dirty="0">
                <a:solidFill>
                  <a:srgbClr val="FFFFFF"/>
                </a:solidFill>
                <a:latin typeface="Roboto"/>
                <a:ea typeface="Roboto"/>
                <a:cs typeface="Roboto"/>
                <a:sym typeface="Roboto"/>
              </a:rPr>
              <a:t>SUMMARY</a:t>
            </a:r>
          </a:p>
        </p:txBody>
      </p:sp>
      <p:sp>
        <p:nvSpPr>
          <p:cNvPr id="17" name="TextBox 17"/>
          <p:cNvSpPr txBox="1"/>
          <p:nvPr/>
        </p:nvSpPr>
        <p:spPr>
          <a:xfrm>
            <a:off x="13424041" y="1009650"/>
            <a:ext cx="847412" cy="231060"/>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Roboto"/>
                <a:ea typeface="Roboto"/>
                <a:cs typeface="Roboto"/>
                <a:sym typeface="Roboto"/>
              </a:rPr>
              <a:t>GUEST</a:t>
            </a:r>
          </a:p>
        </p:txBody>
      </p:sp>
      <p:sp>
        <p:nvSpPr>
          <p:cNvPr id="18" name="TextBox 18"/>
          <p:cNvSpPr txBox="1"/>
          <p:nvPr/>
        </p:nvSpPr>
        <p:spPr>
          <a:xfrm>
            <a:off x="14528628" y="1009650"/>
            <a:ext cx="1395318" cy="231060"/>
          </a:xfrm>
          <a:prstGeom prst="rect">
            <a:avLst/>
          </a:prstGeom>
        </p:spPr>
        <p:txBody>
          <a:bodyPr lIns="0" tIns="0" rIns="0" bIns="0" rtlCol="0" anchor="t">
            <a:spAutoFit/>
          </a:bodyPr>
          <a:lstStyle/>
          <a:p>
            <a:pPr marL="0" lvl="1" indent="0" algn="ctr">
              <a:lnSpc>
                <a:spcPts val="1874"/>
              </a:lnSpc>
              <a:spcBef>
                <a:spcPct val="0"/>
              </a:spcBef>
            </a:pPr>
            <a:r>
              <a:rPr lang="en-US" sz="1453" spc="-79">
                <a:solidFill>
                  <a:srgbClr val="FFFFFF"/>
                </a:solidFill>
                <a:latin typeface="Roboto"/>
                <a:ea typeface="Roboto"/>
                <a:cs typeface="Roboto"/>
                <a:sym typeface="Roboto"/>
              </a:rPr>
              <a:t>CANCELLATION</a:t>
            </a:r>
          </a:p>
        </p:txBody>
      </p:sp>
      <p:sp>
        <p:nvSpPr>
          <p:cNvPr id="19" name="TextBox 19"/>
          <p:cNvSpPr txBox="1"/>
          <p:nvPr/>
        </p:nvSpPr>
        <p:spPr>
          <a:xfrm>
            <a:off x="16083794" y="1035026"/>
            <a:ext cx="1175506" cy="205681"/>
          </a:xfrm>
          <a:prstGeom prst="rect">
            <a:avLst/>
          </a:prstGeom>
        </p:spPr>
        <p:txBody>
          <a:bodyPr lIns="0" tIns="0" rIns="0" bIns="0" rtlCol="0" anchor="t">
            <a:spAutoFit/>
          </a:bodyPr>
          <a:lstStyle/>
          <a:p>
            <a:pPr marL="0" lvl="1" indent="0" algn="ctr">
              <a:lnSpc>
                <a:spcPts val="1650"/>
              </a:lnSpc>
              <a:spcBef>
                <a:spcPct val="0"/>
              </a:spcBef>
            </a:pPr>
            <a:r>
              <a:rPr lang="en-US" sz="1279" spc="-70">
                <a:solidFill>
                  <a:srgbClr val="FFFFFF"/>
                </a:solidFill>
                <a:latin typeface="Roboto"/>
                <a:ea typeface="Roboto"/>
                <a:cs typeface="Roboto"/>
                <a:sym typeface="Roboto"/>
              </a:rPr>
              <a:t>REVENUE</a:t>
            </a:r>
          </a:p>
        </p:txBody>
      </p:sp>
      <p:sp>
        <p:nvSpPr>
          <p:cNvPr id="20" name="TextBox 20"/>
          <p:cNvSpPr txBox="1"/>
          <p:nvPr/>
        </p:nvSpPr>
        <p:spPr>
          <a:xfrm>
            <a:off x="17259300" y="9210675"/>
            <a:ext cx="357317" cy="544508"/>
          </a:xfrm>
          <a:prstGeom prst="rect">
            <a:avLst/>
          </a:prstGeom>
        </p:spPr>
        <p:txBody>
          <a:bodyPr lIns="0" tIns="0" rIns="0" bIns="0" rtlCol="0" anchor="t">
            <a:spAutoFit/>
          </a:bodyPr>
          <a:lstStyle/>
          <a:p>
            <a:pPr marL="0" lvl="1" indent="0" algn="l">
              <a:lnSpc>
                <a:spcPts val="2216"/>
              </a:lnSpc>
              <a:spcBef>
                <a:spcPct val="0"/>
              </a:spcBef>
            </a:pPr>
            <a:endParaRPr lang="en-US" sz="1583" dirty="0">
              <a:solidFill>
                <a:srgbClr val="FFFFFF"/>
              </a:solidFill>
              <a:latin typeface="Roboto"/>
              <a:ea typeface="Roboto"/>
              <a:cs typeface="Roboto"/>
              <a:sym typeface="Roboto"/>
            </a:endParaRPr>
          </a:p>
          <a:p>
            <a:pPr marL="0" lvl="1" indent="0" algn="l">
              <a:lnSpc>
                <a:spcPts val="2216"/>
              </a:lnSpc>
              <a:spcBef>
                <a:spcPct val="0"/>
              </a:spcBef>
            </a:pPr>
            <a:endParaRPr lang="en-US" sz="1583" dirty="0">
              <a:solidFill>
                <a:srgbClr val="FFFFFF"/>
              </a:solidFill>
              <a:latin typeface="Roboto"/>
              <a:ea typeface="Roboto"/>
              <a:cs typeface="Roboto"/>
              <a:sym typeface="Roboto"/>
            </a:endParaRPr>
          </a:p>
        </p:txBody>
      </p:sp>
      <p:sp>
        <p:nvSpPr>
          <p:cNvPr id="21" name="TextBox 21"/>
          <p:cNvSpPr txBox="1"/>
          <p:nvPr/>
        </p:nvSpPr>
        <p:spPr>
          <a:xfrm>
            <a:off x="930938" y="7271932"/>
            <a:ext cx="2748858" cy="227626"/>
          </a:xfrm>
          <a:prstGeom prst="rect">
            <a:avLst/>
          </a:prstGeom>
        </p:spPr>
        <p:txBody>
          <a:bodyPr lIns="0" tIns="0" rIns="0" bIns="0" rtlCol="0" anchor="t">
            <a:spAutoFit/>
          </a:bodyPr>
          <a:lstStyle/>
          <a:p>
            <a:pPr marL="0" lvl="1" indent="0" algn="ctr">
              <a:lnSpc>
                <a:spcPts val="1854"/>
              </a:lnSpc>
              <a:spcBef>
                <a:spcPct val="0"/>
              </a:spcBef>
            </a:pPr>
            <a:r>
              <a:rPr lang="en-US" sz="1324" spc="491" dirty="0">
                <a:solidFill>
                  <a:srgbClr val="E6E6E6"/>
                </a:solidFill>
                <a:latin typeface="Roboto"/>
                <a:ea typeface="Roboto"/>
                <a:cs typeface="Roboto"/>
                <a:sym typeface="Roboto"/>
              </a:rPr>
              <a:t>PROJECT </a:t>
            </a:r>
            <a:r>
              <a:rPr lang="en-US" sz="1400" spc="491" dirty="0">
                <a:solidFill>
                  <a:srgbClr val="E6E6E6"/>
                </a:solidFill>
                <a:latin typeface="Roboto"/>
                <a:ea typeface="Roboto"/>
                <a:cs typeface="Roboto"/>
                <a:sym typeface="Roboto"/>
              </a:rPr>
              <a:t>OVERVIEW</a:t>
            </a:r>
            <a:endParaRPr lang="en-US" sz="1324" spc="491" dirty="0">
              <a:solidFill>
                <a:srgbClr val="E6E6E6"/>
              </a:solidFill>
              <a:latin typeface="Roboto"/>
              <a:ea typeface="Roboto"/>
              <a:cs typeface="Roboto"/>
              <a:sym typeface="Roboto"/>
            </a:endParaRPr>
          </a:p>
        </p:txBody>
      </p:sp>
      <p:sp>
        <p:nvSpPr>
          <p:cNvPr id="22" name="TextBox 22"/>
          <p:cNvSpPr txBox="1"/>
          <p:nvPr/>
        </p:nvSpPr>
        <p:spPr>
          <a:xfrm>
            <a:off x="7709379" y="8198873"/>
            <a:ext cx="3538370" cy="696473"/>
          </a:xfrm>
          <a:prstGeom prst="rect">
            <a:avLst/>
          </a:prstGeom>
        </p:spPr>
        <p:txBody>
          <a:bodyPr lIns="0" tIns="0" rIns="0" bIns="0" rtlCol="0" anchor="t">
            <a:spAutoFit/>
          </a:bodyPr>
          <a:lstStyle/>
          <a:p>
            <a:pPr algn="l">
              <a:lnSpc>
                <a:spcPts val="2773"/>
              </a:lnSpc>
              <a:spcBef>
                <a:spcPct val="0"/>
              </a:spcBef>
            </a:pPr>
            <a:r>
              <a:rPr lang="en-US" sz="2100" b="1" spc="-118" dirty="0">
                <a:solidFill>
                  <a:srgbClr val="E6E6E6"/>
                </a:solidFill>
                <a:latin typeface="Montserrat"/>
                <a:ea typeface="Montserrat"/>
                <a:cs typeface="Montserrat"/>
                <a:sym typeface="Montserrat"/>
              </a:rPr>
              <a:t>GUIDED BY </a:t>
            </a:r>
            <a:r>
              <a:rPr lang="en-US" sz="2149" spc="-118" dirty="0">
                <a:solidFill>
                  <a:srgbClr val="E6E6E6"/>
                </a:solidFill>
                <a:latin typeface="Montserrat"/>
                <a:ea typeface="Montserrat"/>
                <a:cs typeface="Montserrat"/>
                <a:sym typeface="Montserrat"/>
              </a:rPr>
              <a:t>: </a:t>
            </a:r>
          </a:p>
          <a:p>
            <a:pPr algn="l">
              <a:lnSpc>
                <a:spcPts val="2773"/>
              </a:lnSpc>
              <a:spcBef>
                <a:spcPct val="0"/>
              </a:spcBef>
            </a:pPr>
            <a:r>
              <a:rPr lang="en-US" sz="2000" spc="-118" dirty="0">
                <a:solidFill>
                  <a:srgbClr val="E6E6E6"/>
                </a:solidFill>
                <a:latin typeface="Montserrat"/>
                <a:ea typeface="Montserrat"/>
                <a:cs typeface="Montserrat"/>
                <a:sym typeface="Montserrat"/>
              </a:rPr>
              <a:t>KALAIVANI A</a:t>
            </a:r>
          </a:p>
        </p:txBody>
      </p:sp>
      <p:sp>
        <p:nvSpPr>
          <p:cNvPr id="23" name="TextBox 22">
            <a:extLst>
              <a:ext uri="{FF2B5EF4-FFF2-40B4-BE49-F238E27FC236}">
                <a16:creationId xmlns:a16="http://schemas.microsoft.com/office/drawing/2014/main" id="{A8126D92-5A27-C2A6-8412-00EA877F7D57}"/>
              </a:ext>
            </a:extLst>
          </p:cNvPr>
          <p:cNvSpPr txBox="1"/>
          <p:nvPr/>
        </p:nvSpPr>
        <p:spPr>
          <a:xfrm>
            <a:off x="930938" y="8076413"/>
            <a:ext cx="2528256" cy="1338828"/>
          </a:xfrm>
          <a:prstGeom prst="rect">
            <a:avLst/>
          </a:prstGeom>
          <a:noFill/>
        </p:spPr>
        <p:txBody>
          <a:bodyPr wrap="none" rtlCol="0">
            <a:spAutoFit/>
          </a:bodyPr>
          <a:lstStyle/>
          <a:p>
            <a:r>
              <a:rPr lang="en-IN" sz="2100" b="1" dirty="0">
                <a:solidFill>
                  <a:schemeClr val="bg1">
                    <a:lumMod val="95000"/>
                  </a:schemeClr>
                </a:solidFill>
                <a:latin typeface="Open Sans "/>
              </a:rPr>
              <a:t>TEAM MEMBERS </a:t>
            </a:r>
            <a:r>
              <a:rPr lang="en-IN" sz="2000" b="1" dirty="0">
                <a:solidFill>
                  <a:schemeClr val="bg1">
                    <a:lumMod val="95000"/>
                  </a:schemeClr>
                </a:solidFill>
                <a:latin typeface="Open Sans "/>
              </a:rPr>
              <a:t>: </a:t>
            </a:r>
          </a:p>
          <a:p>
            <a:r>
              <a:rPr lang="en-IN" sz="2000" dirty="0">
                <a:solidFill>
                  <a:schemeClr val="bg1">
                    <a:lumMod val="95000"/>
                  </a:schemeClr>
                </a:solidFill>
                <a:latin typeface="Open Sans "/>
              </a:rPr>
              <a:t>DIMPLE SHARMA</a:t>
            </a:r>
          </a:p>
          <a:p>
            <a:r>
              <a:rPr lang="en-IN" sz="2000" dirty="0">
                <a:solidFill>
                  <a:schemeClr val="bg1">
                    <a:lumMod val="95000"/>
                  </a:schemeClr>
                </a:solidFill>
                <a:latin typeface="Open Sans "/>
              </a:rPr>
              <a:t>KARAN SINGH</a:t>
            </a:r>
          </a:p>
          <a:p>
            <a:r>
              <a:rPr lang="en-IN" sz="2000" dirty="0">
                <a:solidFill>
                  <a:schemeClr val="bg1">
                    <a:lumMod val="95000"/>
                  </a:schemeClr>
                </a:solidFill>
                <a:latin typeface="Open Sans "/>
              </a:rPr>
              <a:t>DIVYA V</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407207" cy="10287000"/>
            <a:chOff x="0" y="0"/>
            <a:chExt cx="9876276" cy="13716000"/>
          </a:xfrm>
        </p:grpSpPr>
        <p:pic>
          <p:nvPicPr>
            <p:cNvPr id="3" name="Picture 3"/>
            <p:cNvPicPr>
              <a:picLocks noChangeAspect="1"/>
            </p:cNvPicPr>
            <p:nvPr/>
          </p:nvPicPr>
          <p:blipFill>
            <a:blip r:embed="rId2">
              <a:alphaModFix amt="44999"/>
            </a:blip>
            <a:srcRect l="13997" r="13997"/>
            <a:stretch>
              <a:fillRect/>
            </a:stretch>
          </p:blipFill>
          <p:spPr>
            <a:xfrm>
              <a:off x="0" y="0"/>
              <a:ext cx="9876276" cy="13716000"/>
            </a:xfrm>
            <a:prstGeom prst="rect">
              <a:avLst/>
            </a:prstGeom>
          </p:spPr>
        </p:pic>
      </p:grpSp>
      <p:grpSp>
        <p:nvGrpSpPr>
          <p:cNvPr id="6" name="Group 6"/>
          <p:cNvGrpSpPr/>
          <p:nvPr/>
        </p:nvGrpSpPr>
        <p:grpSpPr>
          <a:xfrm>
            <a:off x="7407207" y="0"/>
            <a:ext cx="10880793" cy="10287000"/>
            <a:chOff x="0" y="0"/>
            <a:chExt cx="2865723" cy="2709333"/>
          </a:xfrm>
        </p:grpSpPr>
        <p:sp>
          <p:nvSpPr>
            <p:cNvPr id="7" name="Freeform 7"/>
            <p:cNvSpPr/>
            <p:nvPr/>
          </p:nvSpPr>
          <p:spPr>
            <a:xfrm>
              <a:off x="0" y="0"/>
              <a:ext cx="2865723" cy="2709333"/>
            </a:xfrm>
            <a:custGeom>
              <a:avLst/>
              <a:gdLst/>
              <a:ahLst/>
              <a:cxnLst/>
              <a:rect l="l" t="t" r="r" b="b"/>
              <a:pathLst>
                <a:path w="2865723" h="2709333">
                  <a:moveTo>
                    <a:pt x="0" y="0"/>
                  </a:moveTo>
                  <a:lnTo>
                    <a:pt x="2865723" y="0"/>
                  </a:lnTo>
                  <a:lnTo>
                    <a:pt x="2865723" y="2709333"/>
                  </a:lnTo>
                  <a:lnTo>
                    <a:pt x="0" y="2709333"/>
                  </a:lnTo>
                  <a:close/>
                </a:path>
              </a:pathLst>
            </a:custGeom>
            <a:solidFill>
              <a:srgbClr val="265959"/>
            </a:solidFill>
          </p:spPr>
          <p:txBody>
            <a:bodyPr/>
            <a:lstStyle/>
            <a:p>
              <a:endParaRPr lang="en-IN" dirty="0"/>
            </a:p>
          </p:txBody>
        </p:sp>
        <p:sp>
          <p:nvSpPr>
            <p:cNvPr id="8" name="TextBox 8"/>
            <p:cNvSpPr txBox="1"/>
            <p:nvPr/>
          </p:nvSpPr>
          <p:spPr>
            <a:xfrm>
              <a:off x="0" y="-9525"/>
              <a:ext cx="2865723" cy="2718858"/>
            </a:xfrm>
            <a:prstGeom prst="rect">
              <a:avLst/>
            </a:prstGeom>
          </p:spPr>
          <p:txBody>
            <a:bodyPr lIns="50800" tIns="50800" rIns="50800" bIns="50800" rtlCol="0" anchor="ctr"/>
            <a:lstStyle/>
            <a:p>
              <a:pPr algn="ctr">
                <a:lnSpc>
                  <a:spcPts val="1874"/>
                </a:lnSpc>
              </a:pPr>
              <a:endParaRPr/>
            </a:p>
          </p:txBody>
        </p:sp>
      </p:grpSp>
      <p:sp>
        <p:nvSpPr>
          <p:cNvPr id="9" name="AutoShape 9"/>
          <p:cNvSpPr/>
          <p:nvPr/>
        </p:nvSpPr>
        <p:spPr>
          <a:xfrm flipV="1">
            <a:off x="7407207" y="2245862"/>
            <a:ext cx="0" cy="0"/>
          </a:xfrm>
          <a:prstGeom prst="line">
            <a:avLst/>
          </a:prstGeom>
          <a:ln w="38100" cap="flat">
            <a:solidFill>
              <a:srgbClr val="FFFFFF"/>
            </a:solidFill>
            <a:prstDash val="solid"/>
            <a:headEnd type="none" w="sm" len="sm"/>
            <a:tailEnd type="none" w="sm" len="sm"/>
          </a:ln>
        </p:spPr>
      </p:sp>
      <p:sp>
        <p:nvSpPr>
          <p:cNvPr id="10" name="TextBox 10"/>
          <p:cNvSpPr txBox="1"/>
          <p:nvPr/>
        </p:nvSpPr>
        <p:spPr>
          <a:xfrm>
            <a:off x="8050752" y="3292603"/>
            <a:ext cx="9208548" cy="5713295"/>
          </a:xfrm>
          <a:prstGeom prst="rect">
            <a:avLst/>
          </a:prstGeom>
        </p:spPr>
        <p:txBody>
          <a:bodyPr lIns="0" tIns="0" rIns="0" bIns="0" rtlCol="0" anchor="t">
            <a:spAutoFit/>
          </a:bodyPr>
          <a:lstStyle/>
          <a:p>
            <a:pPr algn="just">
              <a:lnSpc>
                <a:spcPts val="3226"/>
              </a:lnSpc>
            </a:pPr>
            <a:r>
              <a:rPr lang="en-US" sz="2400" dirty="0">
                <a:solidFill>
                  <a:srgbClr val="E6E6E6"/>
                </a:solidFill>
                <a:latin typeface="Open Sans"/>
                <a:ea typeface="Open Sans"/>
                <a:cs typeface="Open Sans"/>
                <a:sym typeface="Open Sans"/>
              </a:rPr>
              <a:t>Hotels generate large volumes of booking, customer, and room data across multiple branches and channels.</a:t>
            </a:r>
          </a:p>
          <a:p>
            <a:pPr algn="just">
              <a:lnSpc>
                <a:spcPts val="3226"/>
              </a:lnSpc>
            </a:pPr>
            <a:r>
              <a:rPr lang="en-US" sz="2400" dirty="0" smtClean="0">
                <a:solidFill>
                  <a:srgbClr val="E6E6E6"/>
                </a:solidFill>
                <a:latin typeface="Open Sans"/>
                <a:ea typeface="Open Sans"/>
                <a:cs typeface="Open Sans"/>
                <a:sym typeface="Open Sans"/>
              </a:rPr>
              <a:t>However</a:t>
            </a:r>
            <a:r>
              <a:rPr lang="en-US" sz="2400" dirty="0">
                <a:solidFill>
                  <a:srgbClr val="E6E6E6"/>
                </a:solidFill>
                <a:latin typeface="Open Sans"/>
                <a:ea typeface="Open Sans"/>
                <a:cs typeface="Open Sans"/>
                <a:sym typeface="Open Sans"/>
              </a:rPr>
              <a:t>, without a structured analytical system, management struggles to monitor occupancy rates, ADR, RevPAR, guest segmentation, cancellation trends, and seasonal performance effectively.</a:t>
            </a:r>
          </a:p>
          <a:p>
            <a:pPr algn="just">
              <a:lnSpc>
                <a:spcPts val="3226"/>
              </a:lnSpc>
            </a:pPr>
            <a:endParaRPr lang="en-US" sz="2400" dirty="0">
              <a:solidFill>
                <a:srgbClr val="E6E6E6"/>
              </a:solidFill>
              <a:latin typeface="Open Sans"/>
              <a:ea typeface="Open Sans"/>
              <a:cs typeface="Open Sans"/>
              <a:sym typeface="Open Sans"/>
            </a:endParaRPr>
          </a:p>
          <a:p>
            <a:pPr algn="just">
              <a:lnSpc>
                <a:spcPts val="3226"/>
              </a:lnSpc>
            </a:pPr>
            <a:r>
              <a:rPr lang="en-US" sz="2400" dirty="0">
                <a:solidFill>
                  <a:srgbClr val="E6E6E6"/>
                </a:solidFill>
                <a:latin typeface="Open Sans"/>
                <a:ea typeface="Open Sans"/>
                <a:cs typeface="Open Sans"/>
                <a:sym typeface="Open Sans"/>
              </a:rPr>
              <a:t>This project, AI-Driven Revenue Analysis for Hotels, aims to build an interactive Power BI dashboard that integrates booking, customer, and room data to analyze revenue performance, forecast occupancy, evaluate cancellation impact, and support strategic pricing and upselling decisions.</a:t>
            </a:r>
          </a:p>
          <a:p>
            <a:pPr algn="just">
              <a:lnSpc>
                <a:spcPts val="3226"/>
              </a:lnSpc>
            </a:pPr>
            <a:endParaRPr lang="en-US" sz="2400" dirty="0">
              <a:solidFill>
                <a:srgbClr val="E6E6E6"/>
              </a:solidFill>
              <a:latin typeface="Open Sans"/>
              <a:ea typeface="Open Sans"/>
              <a:cs typeface="Open Sans"/>
              <a:sym typeface="Open Sans"/>
            </a:endParaRPr>
          </a:p>
          <a:p>
            <a:pPr algn="just">
              <a:lnSpc>
                <a:spcPts val="3226"/>
              </a:lnSpc>
            </a:pPr>
            <a:endParaRPr lang="en-US" sz="2137" dirty="0">
              <a:solidFill>
                <a:srgbClr val="E6E6E6"/>
              </a:solidFill>
              <a:latin typeface="Open Sans"/>
              <a:ea typeface="Open Sans"/>
              <a:cs typeface="Open Sans"/>
              <a:sym typeface="Open Sans"/>
            </a:endParaRPr>
          </a:p>
        </p:txBody>
      </p:sp>
      <p:sp>
        <p:nvSpPr>
          <p:cNvPr id="11" name="TextBox 11"/>
          <p:cNvSpPr txBox="1"/>
          <p:nvPr/>
        </p:nvSpPr>
        <p:spPr>
          <a:xfrm>
            <a:off x="17259300" y="9210675"/>
            <a:ext cx="357317" cy="544508"/>
          </a:xfrm>
          <a:prstGeom prst="rect">
            <a:avLst/>
          </a:prstGeom>
        </p:spPr>
        <p:txBody>
          <a:bodyPr lIns="0" tIns="0" rIns="0" bIns="0" rtlCol="0" anchor="t">
            <a:spAutoFit/>
          </a:bodyPr>
          <a:lstStyle/>
          <a:p>
            <a:pPr marL="0" lvl="1" indent="0" algn="l">
              <a:lnSpc>
                <a:spcPts val="2216"/>
              </a:lnSpc>
              <a:spcBef>
                <a:spcPct val="0"/>
              </a:spcBef>
            </a:pPr>
            <a:endParaRPr lang="en-US" sz="1583" dirty="0">
              <a:solidFill>
                <a:srgbClr val="FAFAFA"/>
              </a:solidFill>
              <a:latin typeface="Roboto"/>
              <a:ea typeface="Roboto"/>
              <a:cs typeface="Roboto"/>
              <a:sym typeface="Roboto"/>
            </a:endParaRPr>
          </a:p>
          <a:p>
            <a:pPr marL="0" lvl="1" indent="0" algn="l">
              <a:lnSpc>
                <a:spcPts val="2216"/>
              </a:lnSpc>
              <a:spcBef>
                <a:spcPct val="0"/>
              </a:spcBef>
            </a:pPr>
            <a:endParaRPr lang="en-US" sz="1583" dirty="0">
              <a:solidFill>
                <a:srgbClr val="FAFAFA"/>
              </a:solidFill>
              <a:latin typeface="Roboto"/>
              <a:ea typeface="Roboto"/>
              <a:cs typeface="Roboto"/>
              <a:sym typeface="Roboto"/>
            </a:endParaRPr>
          </a:p>
        </p:txBody>
      </p:sp>
      <p:sp>
        <p:nvSpPr>
          <p:cNvPr id="12" name="TextBox 12"/>
          <p:cNvSpPr txBox="1"/>
          <p:nvPr/>
        </p:nvSpPr>
        <p:spPr>
          <a:xfrm>
            <a:off x="9397494" y="955390"/>
            <a:ext cx="8040465" cy="755159"/>
          </a:xfrm>
          <a:prstGeom prst="rect">
            <a:avLst/>
          </a:prstGeom>
        </p:spPr>
        <p:txBody>
          <a:bodyPr lIns="0" tIns="0" rIns="0" bIns="0" rtlCol="0" anchor="t">
            <a:spAutoFit/>
          </a:bodyPr>
          <a:lstStyle/>
          <a:p>
            <a:pPr algn="r">
              <a:lnSpc>
                <a:spcPts val="6144"/>
              </a:lnSpc>
              <a:spcBef>
                <a:spcPct val="0"/>
              </a:spcBef>
            </a:pPr>
            <a:r>
              <a:rPr lang="en-US" sz="4800" b="1" spc="-261" dirty="0">
                <a:solidFill>
                  <a:srgbClr val="FFC000"/>
                </a:solidFill>
                <a:latin typeface="Montserrat Bold"/>
                <a:ea typeface="Montserrat Bold"/>
                <a:cs typeface="Montserrat Bold"/>
                <a:sym typeface="Montserrat Bold"/>
              </a:rPr>
              <a:t>PROJECT STATEMENT</a:t>
            </a:r>
          </a:p>
        </p:txBody>
      </p:sp>
      <p:sp>
        <p:nvSpPr>
          <p:cNvPr id="13" name="AutoShape 13"/>
          <p:cNvSpPr/>
          <p:nvPr/>
        </p:nvSpPr>
        <p:spPr>
          <a:xfrm>
            <a:off x="7407207" y="2188712"/>
            <a:ext cx="10880793" cy="0"/>
          </a:xfrm>
          <a:prstGeom prst="line">
            <a:avLst/>
          </a:prstGeom>
          <a:ln w="57150" cap="flat">
            <a:solidFill>
              <a:srgbClr val="FFFFFF"/>
            </a:solidFill>
            <a:prstDash val="solid"/>
            <a:headEnd type="none" w="sm" len="sm"/>
            <a:tailEnd type="none" w="sm" len="sm"/>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669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sp>
        <p:sp>
          <p:nvSpPr>
            <p:cNvPr id="4" name="TextBox 4"/>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grpSp>
        <p:nvGrpSpPr>
          <p:cNvPr id="5" name="Group 5"/>
          <p:cNvGrpSpPr/>
          <p:nvPr/>
        </p:nvGrpSpPr>
        <p:grpSpPr>
          <a:xfrm>
            <a:off x="1028700" y="2600664"/>
            <a:ext cx="1159193" cy="1204118"/>
            <a:chOff x="0" y="0"/>
            <a:chExt cx="305302" cy="317134"/>
          </a:xfrm>
        </p:grpSpPr>
        <p:sp>
          <p:nvSpPr>
            <p:cNvPr id="6" name="Freeform 6"/>
            <p:cNvSpPr/>
            <p:nvPr/>
          </p:nvSpPr>
          <p:spPr>
            <a:xfrm>
              <a:off x="0" y="0"/>
              <a:ext cx="305302" cy="317134"/>
            </a:xfrm>
            <a:custGeom>
              <a:avLst/>
              <a:gdLst/>
              <a:ahLst/>
              <a:cxnLst/>
              <a:rect l="l" t="t" r="r" b="b"/>
              <a:pathLst>
                <a:path w="305302" h="317134">
                  <a:moveTo>
                    <a:pt x="152651" y="0"/>
                  </a:moveTo>
                  <a:cubicBezTo>
                    <a:pt x="68344" y="0"/>
                    <a:pt x="0" y="70993"/>
                    <a:pt x="0" y="158567"/>
                  </a:cubicBezTo>
                  <a:cubicBezTo>
                    <a:pt x="0" y="246141"/>
                    <a:pt x="68344" y="317134"/>
                    <a:pt x="152651" y="317134"/>
                  </a:cubicBezTo>
                  <a:cubicBezTo>
                    <a:pt x="236958" y="317134"/>
                    <a:pt x="305302" y="246141"/>
                    <a:pt x="305302" y="158567"/>
                  </a:cubicBezTo>
                  <a:cubicBezTo>
                    <a:pt x="305302" y="70993"/>
                    <a:pt x="236958" y="0"/>
                    <a:pt x="152651" y="0"/>
                  </a:cubicBezTo>
                  <a:close/>
                </a:path>
              </a:pathLst>
            </a:custGeom>
            <a:solidFill>
              <a:srgbClr val="FBB111"/>
            </a:solidFill>
          </p:spPr>
        </p:sp>
        <p:sp>
          <p:nvSpPr>
            <p:cNvPr id="7" name="TextBox 7"/>
            <p:cNvSpPr txBox="1"/>
            <p:nvPr/>
          </p:nvSpPr>
          <p:spPr>
            <a:xfrm>
              <a:off x="28622" y="-17894"/>
              <a:ext cx="248058" cy="305296"/>
            </a:xfrm>
            <a:prstGeom prst="rect">
              <a:avLst/>
            </a:prstGeom>
          </p:spPr>
          <p:txBody>
            <a:bodyPr lIns="50800" tIns="50800" rIns="50800" bIns="50800" rtlCol="0" anchor="ctr"/>
            <a:lstStyle/>
            <a:p>
              <a:pPr algn="ctr">
                <a:lnSpc>
                  <a:spcPts val="6002"/>
                </a:lnSpc>
              </a:pPr>
              <a:r>
                <a:rPr lang="en-US" sz="4653" b="1" spc="-255">
                  <a:solidFill>
                    <a:srgbClr val="FAFAFA"/>
                  </a:solidFill>
                  <a:latin typeface="Roboto Bold"/>
                  <a:ea typeface="Roboto Bold"/>
                  <a:cs typeface="Roboto Bold"/>
                  <a:sym typeface="Roboto Bold"/>
                </a:rPr>
                <a:t>1</a:t>
              </a:r>
            </a:p>
          </p:txBody>
        </p:sp>
      </p:grpSp>
      <p:sp>
        <p:nvSpPr>
          <p:cNvPr id="9" name="TextBox 9"/>
          <p:cNvSpPr txBox="1"/>
          <p:nvPr/>
        </p:nvSpPr>
        <p:spPr>
          <a:xfrm>
            <a:off x="987192" y="889987"/>
            <a:ext cx="5261208"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OBJECTIVES</a:t>
            </a:r>
          </a:p>
        </p:txBody>
      </p:sp>
      <p:grpSp>
        <p:nvGrpSpPr>
          <p:cNvPr id="10" name="Group 10"/>
          <p:cNvGrpSpPr/>
          <p:nvPr/>
        </p:nvGrpSpPr>
        <p:grpSpPr>
          <a:xfrm>
            <a:off x="1028700" y="4846691"/>
            <a:ext cx="1159193" cy="1204118"/>
            <a:chOff x="0" y="0"/>
            <a:chExt cx="305302" cy="317134"/>
          </a:xfrm>
        </p:grpSpPr>
        <p:sp>
          <p:nvSpPr>
            <p:cNvPr id="11" name="Freeform 11"/>
            <p:cNvSpPr/>
            <p:nvPr/>
          </p:nvSpPr>
          <p:spPr>
            <a:xfrm>
              <a:off x="0" y="0"/>
              <a:ext cx="305302" cy="317134"/>
            </a:xfrm>
            <a:custGeom>
              <a:avLst/>
              <a:gdLst/>
              <a:ahLst/>
              <a:cxnLst/>
              <a:rect l="l" t="t" r="r" b="b"/>
              <a:pathLst>
                <a:path w="305302" h="317134">
                  <a:moveTo>
                    <a:pt x="152651" y="0"/>
                  </a:moveTo>
                  <a:cubicBezTo>
                    <a:pt x="68344" y="0"/>
                    <a:pt x="0" y="70993"/>
                    <a:pt x="0" y="158567"/>
                  </a:cubicBezTo>
                  <a:cubicBezTo>
                    <a:pt x="0" y="246141"/>
                    <a:pt x="68344" y="317134"/>
                    <a:pt x="152651" y="317134"/>
                  </a:cubicBezTo>
                  <a:cubicBezTo>
                    <a:pt x="236958" y="317134"/>
                    <a:pt x="305302" y="246141"/>
                    <a:pt x="305302" y="158567"/>
                  </a:cubicBezTo>
                  <a:cubicBezTo>
                    <a:pt x="305302" y="70993"/>
                    <a:pt x="236958" y="0"/>
                    <a:pt x="152651" y="0"/>
                  </a:cubicBezTo>
                  <a:close/>
                </a:path>
              </a:pathLst>
            </a:custGeom>
            <a:solidFill>
              <a:srgbClr val="FBB111"/>
            </a:solidFill>
          </p:spPr>
        </p:sp>
        <p:sp>
          <p:nvSpPr>
            <p:cNvPr id="12" name="TextBox 12"/>
            <p:cNvSpPr txBox="1"/>
            <p:nvPr/>
          </p:nvSpPr>
          <p:spPr>
            <a:xfrm>
              <a:off x="28622" y="-17894"/>
              <a:ext cx="248058" cy="305296"/>
            </a:xfrm>
            <a:prstGeom prst="rect">
              <a:avLst/>
            </a:prstGeom>
          </p:spPr>
          <p:txBody>
            <a:bodyPr lIns="50800" tIns="50800" rIns="50800" bIns="50800" rtlCol="0" anchor="ctr"/>
            <a:lstStyle/>
            <a:p>
              <a:pPr algn="ctr">
                <a:lnSpc>
                  <a:spcPts val="6002"/>
                </a:lnSpc>
              </a:pPr>
              <a:r>
                <a:rPr lang="en-US" sz="4653" b="1" spc="-255">
                  <a:solidFill>
                    <a:srgbClr val="FAFAFA"/>
                  </a:solidFill>
                  <a:latin typeface="Roboto Bold"/>
                  <a:ea typeface="Roboto Bold"/>
                  <a:cs typeface="Roboto Bold"/>
                  <a:sym typeface="Roboto Bold"/>
                </a:rPr>
                <a:t>2</a:t>
              </a:r>
            </a:p>
          </p:txBody>
        </p:sp>
      </p:grpSp>
      <p:grpSp>
        <p:nvGrpSpPr>
          <p:cNvPr id="13" name="Group 13"/>
          <p:cNvGrpSpPr/>
          <p:nvPr/>
        </p:nvGrpSpPr>
        <p:grpSpPr>
          <a:xfrm>
            <a:off x="1028700" y="6981762"/>
            <a:ext cx="1159193" cy="1204118"/>
            <a:chOff x="0" y="0"/>
            <a:chExt cx="305302" cy="317134"/>
          </a:xfrm>
        </p:grpSpPr>
        <p:sp>
          <p:nvSpPr>
            <p:cNvPr id="14" name="Freeform 14"/>
            <p:cNvSpPr/>
            <p:nvPr/>
          </p:nvSpPr>
          <p:spPr>
            <a:xfrm>
              <a:off x="0" y="0"/>
              <a:ext cx="305302" cy="317134"/>
            </a:xfrm>
            <a:custGeom>
              <a:avLst/>
              <a:gdLst/>
              <a:ahLst/>
              <a:cxnLst/>
              <a:rect l="l" t="t" r="r" b="b"/>
              <a:pathLst>
                <a:path w="305302" h="317134">
                  <a:moveTo>
                    <a:pt x="152651" y="0"/>
                  </a:moveTo>
                  <a:cubicBezTo>
                    <a:pt x="68344" y="0"/>
                    <a:pt x="0" y="70993"/>
                    <a:pt x="0" y="158567"/>
                  </a:cubicBezTo>
                  <a:cubicBezTo>
                    <a:pt x="0" y="246141"/>
                    <a:pt x="68344" y="317134"/>
                    <a:pt x="152651" y="317134"/>
                  </a:cubicBezTo>
                  <a:cubicBezTo>
                    <a:pt x="236958" y="317134"/>
                    <a:pt x="305302" y="246141"/>
                    <a:pt x="305302" y="158567"/>
                  </a:cubicBezTo>
                  <a:cubicBezTo>
                    <a:pt x="305302" y="70993"/>
                    <a:pt x="236958" y="0"/>
                    <a:pt x="152651" y="0"/>
                  </a:cubicBezTo>
                  <a:close/>
                </a:path>
              </a:pathLst>
            </a:custGeom>
            <a:solidFill>
              <a:srgbClr val="FBB111"/>
            </a:solidFill>
          </p:spPr>
        </p:sp>
        <p:sp>
          <p:nvSpPr>
            <p:cNvPr id="15" name="TextBox 15"/>
            <p:cNvSpPr txBox="1"/>
            <p:nvPr/>
          </p:nvSpPr>
          <p:spPr>
            <a:xfrm>
              <a:off x="28622" y="-17894"/>
              <a:ext cx="248058" cy="305296"/>
            </a:xfrm>
            <a:prstGeom prst="rect">
              <a:avLst/>
            </a:prstGeom>
          </p:spPr>
          <p:txBody>
            <a:bodyPr lIns="50800" tIns="50800" rIns="50800" bIns="50800" rtlCol="0" anchor="ctr"/>
            <a:lstStyle/>
            <a:p>
              <a:pPr algn="ctr">
                <a:lnSpc>
                  <a:spcPts val="6002"/>
                </a:lnSpc>
              </a:pPr>
              <a:r>
                <a:rPr lang="en-US" sz="4653" b="1" spc="-255">
                  <a:solidFill>
                    <a:srgbClr val="FAFAFA"/>
                  </a:solidFill>
                  <a:latin typeface="Roboto Bold"/>
                  <a:ea typeface="Roboto Bold"/>
                  <a:cs typeface="Roboto Bold"/>
                  <a:sym typeface="Roboto Bold"/>
                </a:rPr>
                <a:t>3</a:t>
              </a:r>
            </a:p>
          </p:txBody>
        </p:sp>
      </p:grpSp>
      <p:sp>
        <p:nvSpPr>
          <p:cNvPr id="16" name="TextBox 16"/>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17" name="TextBox 17"/>
          <p:cNvSpPr txBox="1"/>
          <p:nvPr/>
        </p:nvSpPr>
        <p:spPr>
          <a:xfrm>
            <a:off x="2426151" y="2694840"/>
            <a:ext cx="5849062" cy="1325473"/>
          </a:xfrm>
          <a:prstGeom prst="rect">
            <a:avLst/>
          </a:prstGeom>
        </p:spPr>
        <p:txBody>
          <a:bodyPr lIns="0" tIns="0" rIns="0" bIns="0" rtlCol="0" anchor="t">
            <a:spAutoFit/>
          </a:bodyPr>
          <a:lstStyle/>
          <a:p>
            <a:pPr algn="l">
              <a:lnSpc>
                <a:spcPts val="3585"/>
              </a:lnSpc>
            </a:pPr>
            <a:r>
              <a:rPr lang="en-US" sz="2560" dirty="0">
                <a:solidFill>
                  <a:srgbClr val="E6E6E6"/>
                </a:solidFill>
                <a:latin typeface="Open Sans"/>
                <a:ea typeface="Open Sans"/>
                <a:cs typeface="Open Sans"/>
                <a:sym typeface="Open Sans"/>
              </a:rPr>
              <a:t>Analyze overall </a:t>
            </a:r>
            <a:r>
              <a:rPr lang="en-US" sz="2560" b="1" dirty="0">
                <a:solidFill>
                  <a:srgbClr val="E6E6E6"/>
                </a:solidFill>
                <a:latin typeface="Open Sans Bold"/>
                <a:ea typeface="Open Sans Bold"/>
                <a:cs typeface="Open Sans Bold"/>
                <a:sym typeface="Open Sans Bold"/>
              </a:rPr>
              <a:t>hotel revenue performance</a:t>
            </a:r>
            <a:r>
              <a:rPr lang="en-US" sz="2560" dirty="0">
                <a:solidFill>
                  <a:srgbClr val="E6E6E6"/>
                </a:solidFill>
                <a:latin typeface="Open Sans"/>
                <a:ea typeface="Open Sans"/>
                <a:cs typeface="Open Sans"/>
                <a:sym typeface="Open Sans"/>
              </a:rPr>
              <a:t> using interactive Power BI visuals</a:t>
            </a:r>
          </a:p>
        </p:txBody>
      </p:sp>
      <p:sp>
        <p:nvSpPr>
          <p:cNvPr id="18" name="TextBox 18"/>
          <p:cNvSpPr txBox="1"/>
          <p:nvPr/>
        </p:nvSpPr>
        <p:spPr>
          <a:xfrm>
            <a:off x="2461724" y="5095875"/>
            <a:ext cx="5849062" cy="877842"/>
          </a:xfrm>
          <a:prstGeom prst="rect">
            <a:avLst/>
          </a:prstGeom>
        </p:spPr>
        <p:txBody>
          <a:bodyPr lIns="0" tIns="0" rIns="0" bIns="0" rtlCol="0" anchor="t">
            <a:spAutoFit/>
          </a:bodyPr>
          <a:lstStyle/>
          <a:p>
            <a:pPr algn="l">
              <a:lnSpc>
                <a:spcPts val="3585"/>
              </a:lnSpc>
            </a:pPr>
            <a:r>
              <a:rPr lang="en-US" sz="2560">
                <a:solidFill>
                  <a:srgbClr val="E6E6E6"/>
                </a:solidFill>
                <a:latin typeface="Open Sans"/>
                <a:ea typeface="Open Sans"/>
                <a:cs typeface="Open Sans"/>
                <a:sym typeface="Open Sans"/>
              </a:rPr>
              <a:t>Monitor </a:t>
            </a:r>
            <a:r>
              <a:rPr lang="en-US" sz="2560" b="1">
                <a:solidFill>
                  <a:srgbClr val="E6E6E6"/>
                </a:solidFill>
                <a:latin typeface="Open Sans Bold"/>
                <a:ea typeface="Open Sans Bold"/>
                <a:cs typeface="Open Sans Bold"/>
                <a:sym typeface="Open Sans Bold"/>
              </a:rPr>
              <a:t>occupancy rate </a:t>
            </a:r>
            <a:r>
              <a:rPr lang="en-US" sz="2560">
                <a:solidFill>
                  <a:srgbClr val="E6E6E6"/>
                </a:solidFill>
                <a:latin typeface="Open Sans"/>
                <a:ea typeface="Open Sans"/>
                <a:cs typeface="Open Sans"/>
                <a:sym typeface="Open Sans"/>
              </a:rPr>
              <a:t>and</a:t>
            </a:r>
            <a:r>
              <a:rPr lang="en-US" sz="2560" b="1">
                <a:solidFill>
                  <a:srgbClr val="E6E6E6"/>
                </a:solidFill>
                <a:latin typeface="Open Sans Bold"/>
                <a:ea typeface="Open Sans Bold"/>
                <a:cs typeface="Open Sans Bold"/>
                <a:sym typeface="Open Sans Bold"/>
              </a:rPr>
              <a:t> room utilization</a:t>
            </a:r>
            <a:r>
              <a:rPr lang="en-US" sz="2560">
                <a:solidFill>
                  <a:srgbClr val="E6E6E6"/>
                </a:solidFill>
                <a:latin typeface="Open Sans"/>
                <a:ea typeface="Open Sans"/>
                <a:cs typeface="Open Sans"/>
                <a:sym typeface="Open Sans"/>
              </a:rPr>
              <a:t> </a:t>
            </a:r>
            <a:r>
              <a:rPr lang="en-US" sz="2560" b="1">
                <a:solidFill>
                  <a:srgbClr val="E6E6E6"/>
                </a:solidFill>
                <a:latin typeface="Open Sans Bold"/>
                <a:ea typeface="Open Sans Bold"/>
                <a:cs typeface="Open Sans Bold"/>
                <a:sym typeface="Open Sans Bold"/>
              </a:rPr>
              <a:t>efficiency</a:t>
            </a:r>
          </a:p>
        </p:txBody>
      </p:sp>
      <p:sp>
        <p:nvSpPr>
          <p:cNvPr id="19" name="TextBox 19"/>
          <p:cNvSpPr txBox="1"/>
          <p:nvPr/>
        </p:nvSpPr>
        <p:spPr>
          <a:xfrm>
            <a:off x="2461724" y="7121088"/>
            <a:ext cx="5849062" cy="877842"/>
          </a:xfrm>
          <a:prstGeom prst="rect">
            <a:avLst/>
          </a:prstGeom>
        </p:spPr>
        <p:txBody>
          <a:bodyPr lIns="0" tIns="0" rIns="0" bIns="0" rtlCol="0" anchor="t">
            <a:spAutoFit/>
          </a:bodyPr>
          <a:lstStyle/>
          <a:p>
            <a:pPr algn="l">
              <a:lnSpc>
                <a:spcPts val="3585"/>
              </a:lnSpc>
            </a:pPr>
            <a:r>
              <a:rPr lang="en-US" sz="2560">
                <a:solidFill>
                  <a:srgbClr val="E6E6E6"/>
                </a:solidFill>
                <a:latin typeface="Open Sans"/>
                <a:ea typeface="Open Sans"/>
                <a:cs typeface="Open Sans"/>
                <a:sym typeface="Open Sans"/>
              </a:rPr>
              <a:t>Evaluate pricing performance through </a:t>
            </a:r>
            <a:r>
              <a:rPr lang="en-US" sz="2560" b="1">
                <a:solidFill>
                  <a:srgbClr val="E6E6E6"/>
                </a:solidFill>
                <a:latin typeface="Open Sans Bold"/>
                <a:ea typeface="Open Sans Bold"/>
                <a:cs typeface="Open Sans Bold"/>
                <a:sym typeface="Open Sans Bold"/>
              </a:rPr>
              <a:t>ADR </a:t>
            </a:r>
            <a:r>
              <a:rPr lang="en-US" sz="2560">
                <a:solidFill>
                  <a:srgbClr val="E6E6E6"/>
                </a:solidFill>
                <a:latin typeface="Open Sans"/>
                <a:ea typeface="Open Sans"/>
                <a:cs typeface="Open Sans"/>
                <a:sym typeface="Open Sans"/>
              </a:rPr>
              <a:t>and</a:t>
            </a:r>
            <a:r>
              <a:rPr lang="en-US" sz="2560" b="1">
                <a:solidFill>
                  <a:srgbClr val="E6E6E6"/>
                </a:solidFill>
                <a:latin typeface="Open Sans Bold"/>
                <a:ea typeface="Open Sans Bold"/>
                <a:cs typeface="Open Sans Bold"/>
                <a:sym typeface="Open Sans Bold"/>
              </a:rPr>
              <a:t> RevPAR</a:t>
            </a:r>
            <a:r>
              <a:rPr lang="en-US" sz="2560">
                <a:solidFill>
                  <a:srgbClr val="E6E6E6"/>
                </a:solidFill>
                <a:latin typeface="Open Sans"/>
                <a:ea typeface="Open Sans"/>
                <a:cs typeface="Open Sans"/>
                <a:sym typeface="Open Sans"/>
              </a:rPr>
              <a:t> analysis</a:t>
            </a:r>
          </a:p>
        </p:txBody>
      </p:sp>
      <p:grpSp>
        <p:nvGrpSpPr>
          <p:cNvPr id="20" name="Group 20"/>
          <p:cNvGrpSpPr/>
          <p:nvPr/>
        </p:nvGrpSpPr>
        <p:grpSpPr>
          <a:xfrm>
            <a:off x="9715015" y="2600664"/>
            <a:ext cx="1159192" cy="1204118"/>
            <a:chOff x="0" y="0"/>
            <a:chExt cx="305302" cy="317134"/>
          </a:xfrm>
        </p:grpSpPr>
        <p:sp>
          <p:nvSpPr>
            <p:cNvPr id="21" name="Freeform 21"/>
            <p:cNvSpPr/>
            <p:nvPr/>
          </p:nvSpPr>
          <p:spPr>
            <a:xfrm>
              <a:off x="0" y="0"/>
              <a:ext cx="305302" cy="317134"/>
            </a:xfrm>
            <a:custGeom>
              <a:avLst/>
              <a:gdLst/>
              <a:ahLst/>
              <a:cxnLst/>
              <a:rect l="l" t="t" r="r" b="b"/>
              <a:pathLst>
                <a:path w="305302" h="317134">
                  <a:moveTo>
                    <a:pt x="152651" y="0"/>
                  </a:moveTo>
                  <a:cubicBezTo>
                    <a:pt x="68344" y="0"/>
                    <a:pt x="0" y="70993"/>
                    <a:pt x="0" y="158567"/>
                  </a:cubicBezTo>
                  <a:cubicBezTo>
                    <a:pt x="0" y="246141"/>
                    <a:pt x="68344" y="317134"/>
                    <a:pt x="152651" y="317134"/>
                  </a:cubicBezTo>
                  <a:cubicBezTo>
                    <a:pt x="236958" y="317134"/>
                    <a:pt x="305302" y="246141"/>
                    <a:pt x="305302" y="158567"/>
                  </a:cubicBezTo>
                  <a:cubicBezTo>
                    <a:pt x="305302" y="70993"/>
                    <a:pt x="236958" y="0"/>
                    <a:pt x="152651" y="0"/>
                  </a:cubicBezTo>
                  <a:close/>
                </a:path>
              </a:pathLst>
            </a:custGeom>
            <a:solidFill>
              <a:srgbClr val="FBB111"/>
            </a:solidFill>
          </p:spPr>
        </p:sp>
        <p:sp>
          <p:nvSpPr>
            <p:cNvPr id="22" name="TextBox 22"/>
            <p:cNvSpPr txBox="1"/>
            <p:nvPr/>
          </p:nvSpPr>
          <p:spPr>
            <a:xfrm>
              <a:off x="28622" y="-17894"/>
              <a:ext cx="248058" cy="305296"/>
            </a:xfrm>
            <a:prstGeom prst="rect">
              <a:avLst/>
            </a:prstGeom>
          </p:spPr>
          <p:txBody>
            <a:bodyPr lIns="50800" tIns="50800" rIns="50800" bIns="50800" rtlCol="0" anchor="ctr"/>
            <a:lstStyle/>
            <a:p>
              <a:pPr algn="ctr">
                <a:lnSpc>
                  <a:spcPts val="6002"/>
                </a:lnSpc>
              </a:pPr>
              <a:r>
                <a:rPr lang="en-US" sz="4653" b="1" spc="-255">
                  <a:solidFill>
                    <a:srgbClr val="FAFAFA"/>
                  </a:solidFill>
                  <a:latin typeface="Roboto Bold"/>
                  <a:ea typeface="Roboto Bold"/>
                  <a:cs typeface="Roboto Bold"/>
                  <a:sym typeface="Roboto Bold"/>
                </a:rPr>
                <a:t>4</a:t>
              </a:r>
            </a:p>
          </p:txBody>
        </p:sp>
      </p:grpSp>
      <p:grpSp>
        <p:nvGrpSpPr>
          <p:cNvPr id="23" name="Group 23"/>
          <p:cNvGrpSpPr/>
          <p:nvPr/>
        </p:nvGrpSpPr>
        <p:grpSpPr>
          <a:xfrm>
            <a:off x="9715015" y="6981762"/>
            <a:ext cx="1159192" cy="1204118"/>
            <a:chOff x="0" y="0"/>
            <a:chExt cx="305302" cy="317134"/>
          </a:xfrm>
        </p:grpSpPr>
        <p:sp>
          <p:nvSpPr>
            <p:cNvPr id="24" name="Freeform 24"/>
            <p:cNvSpPr/>
            <p:nvPr/>
          </p:nvSpPr>
          <p:spPr>
            <a:xfrm>
              <a:off x="0" y="0"/>
              <a:ext cx="305302" cy="317134"/>
            </a:xfrm>
            <a:custGeom>
              <a:avLst/>
              <a:gdLst/>
              <a:ahLst/>
              <a:cxnLst/>
              <a:rect l="l" t="t" r="r" b="b"/>
              <a:pathLst>
                <a:path w="305302" h="317134">
                  <a:moveTo>
                    <a:pt x="152651" y="0"/>
                  </a:moveTo>
                  <a:cubicBezTo>
                    <a:pt x="68344" y="0"/>
                    <a:pt x="0" y="70993"/>
                    <a:pt x="0" y="158567"/>
                  </a:cubicBezTo>
                  <a:cubicBezTo>
                    <a:pt x="0" y="246141"/>
                    <a:pt x="68344" y="317134"/>
                    <a:pt x="152651" y="317134"/>
                  </a:cubicBezTo>
                  <a:cubicBezTo>
                    <a:pt x="236958" y="317134"/>
                    <a:pt x="305302" y="246141"/>
                    <a:pt x="305302" y="158567"/>
                  </a:cubicBezTo>
                  <a:cubicBezTo>
                    <a:pt x="305302" y="70993"/>
                    <a:pt x="236958" y="0"/>
                    <a:pt x="152651" y="0"/>
                  </a:cubicBezTo>
                  <a:close/>
                </a:path>
              </a:pathLst>
            </a:custGeom>
            <a:solidFill>
              <a:srgbClr val="FBB111"/>
            </a:solidFill>
          </p:spPr>
        </p:sp>
        <p:sp>
          <p:nvSpPr>
            <p:cNvPr id="25" name="TextBox 25"/>
            <p:cNvSpPr txBox="1"/>
            <p:nvPr/>
          </p:nvSpPr>
          <p:spPr>
            <a:xfrm>
              <a:off x="28622" y="-17894"/>
              <a:ext cx="248058" cy="305296"/>
            </a:xfrm>
            <a:prstGeom prst="rect">
              <a:avLst/>
            </a:prstGeom>
          </p:spPr>
          <p:txBody>
            <a:bodyPr lIns="50800" tIns="50800" rIns="50800" bIns="50800" rtlCol="0" anchor="ctr"/>
            <a:lstStyle/>
            <a:p>
              <a:pPr algn="ctr">
                <a:lnSpc>
                  <a:spcPts val="6002"/>
                </a:lnSpc>
              </a:pPr>
              <a:r>
                <a:rPr lang="en-US" sz="4653" b="1" spc="-255">
                  <a:solidFill>
                    <a:srgbClr val="FAFAFA"/>
                  </a:solidFill>
                  <a:latin typeface="Roboto Bold"/>
                  <a:ea typeface="Roboto Bold"/>
                  <a:cs typeface="Roboto Bold"/>
                  <a:sym typeface="Roboto Bold"/>
                </a:rPr>
                <a:t>6</a:t>
              </a:r>
            </a:p>
          </p:txBody>
        </p:sp>
      </p:grpSp>
      <p:grpSp>
        <p:nvGrpSpPr>
          <p:cNvPr id="26" name="Group 26"/>
          <p:cNvGrpSpPr/>
          <p:nvPr/>
        </p:nvGrpSpPr>
        <p:grpSpPr>
          <a:xfrm>
            <a:off x="9715015" y="4846691"/>
            <a:ext cx="1159192" cy="1204118"/>
            <a:chOff x="0" y="0"/>
            <a:chExt cx="305302" cy="317134"/>
          </a:xfrm>
        </p:grpSpPr>
        <p:sp>
          <p:nvSpPr>
            <p:cNvPr id="27" name="Freeform 27"/>
            <p:cNvSpPr/>
            <p:nvPr/>
          </p:nvSpPr>
          <p:spPr>
            <a:xfrm>
              <a:off x="0" y="0"/>
              <a:ext cx="305302" cy="317134"/>
            </a:xfrm>
            <a:custGeom>
              <a:avLst/>
              <a:gdLst/>
              <a:ahLst/>
              <a:cxnLst/>
              <a:rect l="l" t="t" r="r" b="b"/>
              <a:pathLst>
                <a:path w="305302" h="317134">
                  <a:moveTo>
                    <a:pt x="152651" y="0"/>
                  </a:moveTo>
                  <a:cubicBezTo>
                    <a:pt x="68344" y="0"/>
                    <a:pt x="0" y="70993"/>
                    <a:pt x="0" y="158567"/>
                  </a:cubicBezTo>
                  <a:cubicBezTo>
                    <a:pt x="0" y="246141"/>
                    <a:pt x="68344" y="317134"/>
                    <a:pt x="152651" y="317134"/>
                  </a:cubicBezTo>
                  <a:cubicBezTo>
                    <a:pt x="236958" y="317134"/>
                    <a:pt x="305302" y="246141"/>
                    <a:pt x="305302" y="158567"/>
                  </a:cubicBezTo>
                  <a:cubicBezTo>
                    <a:pt x="305302" y="70993"/>
                    <a:pt x="236958" y="0"/>
                    <a:pt x="152651" y="0"/>
                  </a:cubicBezTo>
                  <a:close/>
                </a:path>
              </a:pathLst>
            </a:custGeom>
            <a:solidFill>
              <a:srgbClr val="FBB111"/>
            </a:solidFill>
          </p:spPr>
        </p:sp>
        <p:sp>
          <p:nvSpPr>
            <p:cNvPr id="28" name="TextBox 28"/>
            <p:cNvSpPr txBox="1"/>
            <p:nvPr/>
          </p:nvSpPr>
          <p:spPr>
            <a:xfrm>
              <a:off x="28622" y="-17894"/>
              <a:ext cx="248058" cy="305296"/>
            </a:xfrm>
            <a:prstGeom prst="rect">
              <a:avLst/>
            </a:prstGeom>
          </p:spPr>
          <p:txBody>
            <a:bodyPr lIns="50800" tIns="50800" rIns="50800" bIns="50800" rtlCol="0" anchor="ctr"/>
            <a:lstStyle/>
            <a:p>
              <a:pPr algn="ctr">
                <a:lnSpc>
                  <a:spcPts val="6002"/>
                </a:lnSpc>
              </a:pPr>
              <a:r>
                <a:rPr lang="en-US" sz="4653" b="1" spc="-255">
                  <a:solidFill>
                    <a:srgbClr val="FAFAFA"/>
                  </a:solidFill>
                  <a:latin typeface="Roboto Bold"/>
                  <a:ea typeface="Roboto Bold"/>
                  <a:cs typeface="Roboto Bold"/>
                  <a:sym typeface="Roboto Bold"/>
                </a:rPr>
                <a:t>5</a:t>
              </a:r>
            </a:p>
          </p:txBody>
        </p:sp>
      </p:grpSp>
      <p:sp>
        <p:nvSpPr>
          <p:cNvPr id="29" name="TextBox 29"/>
          <p:cNvSpPr txBox="1"/>
          <p:nvPr/>
        </p:nvSpPr>
        <p:spPr>
          <a:xfrm>
            <a:off x="11112465" y="2739990"/>
            <a:ext cx="5849062" cy="877842"/>
          </a:xfrm>
          <a:prstGeom prst="rect">
            <a:avLst/>
          </a:prstGeom>
        </p:spPr>
        <p:txBody>
          <a:bodyPr lIns="0" tIns="0" rIns="0" bIns="0" rtlCol="0" anchor="t">
            <a:spAutoFit/>
          </a:bodyPr>
          <a:lstStyle/>
          <a:p>
            <a:pPr algn="l">
              <a:lnSpc>
                <a:spcPts val="3585"/>
              </a:lnSpc>
            </a:pPr>
            <a:r>
              <a:rPr lang="en-US" sz="2560">
                <a:solidFill>
                  <a:srgbClr val="E6E6E6"/>
                </a:solidFill>
                <a:latin typeface="Open Sans"/>
                <a:ea typeface="Open Sans"/>
                <a:cs typeface="Open Sans"/>
                <a:sym typeface="Open Sans"/>
              </a:rPr>
              <a:t>Examine </a:t>
            </a:r>
            <a:r>
              <a:rPr lang="en-US" sz="2560" b="1">
                <a:solidFill>
                  <a:srgbClr val="E6E6E6"/>
                </a:solidFill>
                <a:latin typeface="Open Sans Bold"/>
                <a:ea typeface="Open Sans Bold"/>
                <a:cs typeface="Open Sans Bold"/>
                <a:sym typeface="Open Sans Bold"/>
              </a:rPr>
              <a:t>booking duration patterns</a:t>
            </a:r>
            <a:r>
              <a:rPr lang="en-US" sz="2560">
                <a:solidFill>
                  <a:srgbClr val="E6E6E6"/>
                </a:solidFill>
                <a:latin typeface="Open Sans"/>
                <a:ea typeface="Open Sans"/>
                <a:cs typeface="Open Sans"/>
                <a:sym typeface="Open Sans"/>
              </a:rPr>
              <a:t> and </a:t>
            </a:r>
            <a:r>
              <a:rPr lang="en-US" sz="2560" b="1">
                <a:solidFill>
                  <a:srgbClr val="E6E6E6"/>
                </a:solidFill>
                <a:latin typeface="Open Sans Bold"/>
                <a:ea typeface="Open Sans Bold"/>
                <a:cs typeface="Open Sans Bold"/>
                <a:sym typeface="Open Sans Bold"/>
              </a:rPr>
              <a:t>cancellation impact</a:t>
            </a:r>
          </a:p>
        </p:txBody>
      </p:sp>
      <p:sp>
        <p:nvSpPr>
          <p:cNvPr id="30" name="TextBox 30"/>
          <p:cNvSpPr txBox="1"/>
          <p:nvPr/>
        </p:nvSpPr>
        <p:spPr>
          <a:xfrm>
            <a:off x="11112465" y="5095875"/>
            <a:ext cx="5849062" cy="1325473"/>
          </a:xfrm>
          <a:prstGeom prst="rect">
            <a:avLst/>
          </a:prstGeom>
        </p:spPr>
        <p:txBody>
          <a:bodyPr lIns="0" tIns="0" rIns="0" bIns="0" rtlCol="0" anchor="t">
            <a:spAutoFit/>
          </a:bodyPr>
          <a:lstStyle/>
          <a:p>
            <a:pPr algn="l">
              <a:lnSpc>
                <a:spcPts val="3585"/>
              </a:lnSpc>
            </a:pPr>
            <a:r>
              <a:rPr lang="en-US" sz="2560" dirty="0">
                <a:solidFill>
                  <a:srgbClr val="E6E6E6"/>
                </a:solidFill>
                <a:latin typeface="Open Sans"/>
                <a:ea typeface="Open Sans"/>
                <a:cs typeface="Open Sans"/>
                <a:sym typeface="Open Sans"/>
              </a:rPr>
              <a:t>Compare </a:t>
            </a:r>
            <a:r>
              <a:rPr lang="en-US" sz="2560" b="1" dirty="0">
                <a:solidFill>
                  <a:srgbClr val="E6E6E6"/>
                </a:solidFill>
                <a:latin typeface="Open Sans Bold"/>
                <a:ea typeface="Open Sans Bold"/>
                <a:cs typeface="Open Sans Bold"/>
                <a:sym typeface="Open Sans Bold"/>
              </a:rPr>
              <a:t>room category performance</a:t>
            </a:r>
            <a:r>
              <a:rPr lang="en-US" sz="2560" dirty="0">
                <a:solidFill>
                  <a:srgbClr val="E6E6E6"/>
                </a:solidFill>
                <a:latin typeface="Open Sans"/>
                <a:ea typeface="Open Sans"/>
                <a:cs typeface="Open Sans"/>
                <a:sym typeface="Open Sans"/>
              </a:rPr>
              <a:t> and</a:t>
            </a:r>
            <a:r>
              <a:rPr lang="en-US" sz="2560" b="1" dirty="0">
                <a:solidFill>
                  <a:srgbClr val="E6E6E6"/>
                </a:solidFill>
                <a:latin typeface="Open Sans Bold"/>
                <a:ea typeface="Open Sans Bold"/>
                <a:cs typeface="Open Sans Bold"/>
                <a:sym typeface="Open Sans Bold"/>
              </a:rPr>
              <a:t> regional base pricing trends</a:t>
            </a:r>
          </a:p>
        </p:txBody>
      </p:sp>
      <p:sp>
        <p:nvSpPr>
          <p:cNvPr id="31" name="TextBox 31"/>
          <p:cNvSpPr txBox="1"/>
          <p:nvPr/>
        </p:nvSpPr>
        <p:spPr>
          <a:xfrm>
            <a:off x="11124755" y="7089208"/>
            <a:ext cx="5849062" cy="1325473"/>
          </a:xfrm>
          <a:prstGeom prst="rect">
            <a:avLst/>
          </a:prstGeom>
        </p:spPr>
        <p:txBody>
          <a:bodyPr lIns="0" tIns="0" rIns="0" bIns="0" rtlCol="0" anchor="t">
            <a:spAutoFit/>
          </a:bodyPr>
          <a:lstStyle/>
          <a:p>
            <a:pPr algn="l">
              <a:lnSpc>
                <a:spcPts val="3585"/>
              </a:lnSpc>
            </a:pPr>
            <a:r>
              <a:rPr lang="en-US" sz="2560" dirty="0">
                <a:solidFill>
                  <a:srgbClr val="E6E6E6"/>
                </a:solidFill>
                <a:latin typeface="Open Sans"/>
                <a:ea typeface="Open Sans"/>
                <a:cs typeface="Open Sans"/>
                <a:sym typeface="Open Sans"/>
              </a:rPr>
              <a:t>Support </a:t>
            </a:r>
            <a:r>
              <a:rPr lang="en-US" sz="2560" b="1" dirty="0">
                <a:solidFill>
                  <a:srgbClr val="E6E6E6"/>
                </a:solidFill>
                <a:latin typeface="Open Sans Bold"/>
                <a:ea typeface="Open Sans Bold"/>
                <a:cs typeface="Open Sans Bold"/>
                <a:sym typeface="Open Sans Bold"/>
              </a:rPr>
              <a:t>data-driven revenue optimization</a:t>
            </a:r>
            <a:r>
              <a:rPr lang="en-US" sz="2560" dirty="0">
                <a:solidFill>
                  <a:srgbClr val="E6E6E6"/>
                </a:solidFill>
                <a:latin typeface="Open Sans"/>
                <a:ea typeface="Open Sans"/>
                <a:cs typeface="Open Sans"/>
                <a:sym typeface="Open Sans"/>
              </a:rPr>
              <a:t> and </a:t>
            </a:r>
            <a:r>
              <a:rPr lang="en-US" sz="2560" b="1" dirty="0">
                <a:solidFill>
                  <a:srgbClr val="E6E6E6"/>
                </a:solidFill>
                <a:latin typeface="Open Sans Bold"/>
                <a:ea typeface="Open Sans Bold"/>
                <a:cs typeface="Open Sans Bold"/>
                <a:sym typeface="Open Sans Bold"/>
              </a:rPr>
              <a:t>strategic decision-making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8C01AB-35CF-080B-5402-91B6A45C96C9}"/>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D0591F2C-67E5-F6C8-5A42-C8E2C6278BC4}"/>
              </a:ext>
            </a:extLst>
          </p:cNvPr>
          <p:cNvGrpSpPr/>
          <p:nvPr/>
        </p:nvGrpSpPr>
        <p:grpSpPr>
          <a:xfrm>
            <a:off x="13640357" y="12031"/>
            <a:ext cx="4789348" cy="10274969"/>
            <a:chOff x="13845355" y="-14348"/>
            <a:chExt cx="4520480" cy="10274969"/>
          </a:xfrm>
        </p:grpSpPr>
        <p:sp>
          <p:nvSpPr>
            <p:cNvPr id="6" name="Rectangle 5">
              <a:extLst>
                <a:ext uri="{FF2B5EF4-FFF2-40B4-BE49-F238E27FC236}">
                  <a16:creationId xmlns:a16="http://schemas.microsoft.com/office/drawing/2014/main" id="{2226380F-705C-9B26-833F-DB586004D461}"/>
                </a:ext>
              </a:extLst>
            </p:cNvPr>
            <p:cNvSpPr/>
            <p:nvPr/>
          </p:nvSpPr>
          <p:spPr>
            <a:xfrm>
              <a:off x="14019583" y="-14348"/>
              <a:ext cx="4278331" cy="10274969"/>
            </a:xfrm>
            <a:prstGeom prst="rect">
              <a:avLst/>
            </a:prstGeom>
            <a:solidFill>
              <a:srgbClr val="7CB8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2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B176277D-2B86-4398-F71D-38037A1C136E}"/>
                </a:ext>
              </a:extLst>
            </p:cNvPr>
            <p:cNvSpPr txBox="1"/>
            <p:nvPr/>
          </p:nvSpPr>
          <p:spPr>
            <a:xfrm flipH="1">
              <a:off x="13845355" y="1807042"/>
              <a:ext cx="4376958" cy="1567824"/>
            </a:xfrm>
            <a:prstGeom prst="rect">
              <a:avLst/>
            </a:prstGeom>
            <a:noFill/>
          </p:spPr>
          <p:txBody>
            <a:bodyPr wrap="square" rtlCol="0">
              <a:spAutoFit/>
            </a:bodyPr>
            <a:lstStyle/>
            <a:p>
              <a:pPr algn="ctr"/>
              <a:r>
                <a:rPr lang="en-IN" sz="9600" b="1" dirty="0">
                  <a:solidFill>
                    <a:schemeClr val="bg1"/>
                  </a:solidFill>
                  <a:latin typeface="Montserrat" panose="00000500000000000000" pitchFamily="2" charset="0"/>
                </a:rPr>
                <a:t>M5</a:t>
              </a:r>
            </a:p>
          </p:txBody>
        </p:sp>
        <p:sp>
          <p:nvSpPr>
            <p:cNvPr id="56" name="TextBox 55">
              <a:extLst>
                <a:ext uri="{FF2B5EF4-FFF2-40B4-BE49-F238E27FC236}">
                  <a16:creationId xmlns:a16="http://schemas.microsoft.com/office/drawing/2014/main" id="{FF1A12F9-2217-29FC-DA96-36EA87B5ACB0}"/>
                </a:ext>
              </a:extLst>
            </p:cNvPr>
            <p:cNvSpPr txBox="1"/>
            <p:nvPr/>
          </p:nvSpPr>
          <p:spPr>
            <a:xfrm>
              <a:off x="14120980" y="5985020"/>
              <a:ext cx="4244855" cy="738664"/>
            </a:xfrm>
            <a:prstGeom prst="rect">
              <a:avLst/>
            </a:prstGeom>
            <a:noFill/>
          </p:spPr>
          <p:txBody>
            <a:bodyPr wrap="square" rtlCol="0">
              <a:spAutoFit/>
            </a:bodyPr>
            <a:lstStyle/>
            <a:p>
              <a:pPr algn="ctr"/>
              <a:endParaRPr lang="en-IN" sz="4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5" name="Group 24">
            <a:extLst>
              <a:ext uri="{FF2B5EF4-FFF2-40B4-BE49-F238E27FC236}">
                <a16:creationId xmlns:a16="http://schemas.microsoft.com/office/drawing/2014/main" id="{69F38096-4A26-C52D-9DFD-C4B94EC1A732}"/>
              </a:ext>
            </a:extLst>
          </p:cNvPr>
          <p:cNvGrpSpPr/>
          <p:nvPr/>
        </p:nvGrpSpPr>
        <p:grpSpPr>
          <a:xfrm>
            <a:off x="10303633" y="0"/>
            <a:ext cx="4037169" cy="10272529"/>
            <a:chOff x="10613181" y="-14348"/>
            <a:chExt cx="4037169" cy="10272529"/>
          </a:xfrm>
        </p:grpSpPr>
        <p:sp>
          <p:nvSpPr>
            <p:cNvPr id="4" name="Rectangle 3">
              <a:extLst>
                <a:ext uri="{FF2B5EF4-FFF2-40B4-BE49-F238E27FC236}">
                  <a16:creationId xmlns:a16="http://schemas.microsoft.com/office/drawing/2014/main" id="{25C40D39-878A-1FC2-2DAC-749B54798928}"/>
                </a:ext>
              </a:extLst>
            </p:cNvPr>
            <p:cNvSpPr/>
            <p:nvPr/>
          </p:nvSpPr>
          <p:spPr>
            <a:xfrm>
              <a:off x="10691979" y="-14348"/>
              <a:ext cx="3496879" cy="10272529"/>
            </a:xfrm>
            <a:prstGeom prst="rect">
              <a:avLst/>
            </a:prstGeom>
            <a:solidFill>
              <a:srgbClr val="63A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2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C2BFD40C-7AE9-A827-1CFD-CF8C530E8E59}"/>
                </a:ext>
              </a:extLst>
            </p:cNvPr>
            <p:cNvSpPr txBox="1"/>
            <p:nvPr/>
          </p:nvSpPr>
          <p:spPr>
            <a:xfrm>
              <a:off x="10613181" y="1755978"/>
              <a:ext cx="3449355" cy="1567452"/>
            </a:xfrm>
            <a:prstGeom prst="rect">
              <a:avLst/>
            </a:prstGeom>
            <a:noFill/>
          </p:spPr>
          <p:txBody>
            <a:bodyPr wrap="square" rtlCol="0">
              <a:spAutoFit/>
            </a:bodyPr>
            <a:lstStyle/>
            <a:p>
              <a:pPr algn="ctr"/>
              <a:r>
                <a:rPr lang="en-IN" sz="9600" b="1" dirty="0">
                  <a:solidFill>
                    <a:schemeClr val="bg1"/>
                  </a:solidFill>
                  <a:latin typeface="Montserrat" panose="00000500000000000000" pitchFamily="2" charset="0"/>
                </a:rPr>
                <a:t>M4</a:t>
              </a:r>
            </a:p>
          </p:txBody>
        </p:sp>
        <p:sp>
          <p:nvSpPr>
            <p:cNvPr id="28" name="Isosceles Triangle 27">
              <a:extLst>
                <a:ext uri="{FF2B5EF4-FFF2-40B4-BE49-F238E27FC236}">
                  <a16:creationId xmlns:a16="http://schemas.microsoft.com/office/drawing/2014/main" id="{B235E09D-A9BB-3957-E069-89C140091D5A}"/>
                </a:ext>
              </a:extLst>
            </p:cNvPr>
            <p:cNvSpPr/>
            <p:nvPr/>
          </p:nvSpPr>
          <p:spPr>
            <a:xfrm rot="5400000">
              <a:off x="13752906" y="2331548"/>
              <a:ext cx="1345402" cy="449487"/>
            </a:xfrm>
            <a:prstGeom prst="triangle">
              <a:avLst/>
            </a:prstGeom>
            <a:solidFill>
              <a:srgbClr val="63A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3" name="TextBox 52">
              <a:extLst>
                <a:ext uri="{FF2B5EF4-FFF2-40B4-BE49-F238E27FC236}">
                  <a16:creationId xmlns:a16="http://schemas.microsoft.com/office/drawing/2014/main" id="{088B9C43-F9A9-E987-4A47-F4EAEE336B85}"/>
                </a:ext>
              </a:extLst>
            </p:cNvPr>
            <p:cNvSpPr txBox="1"/>
            <p:nvPr/>
          </p:nvSpPr>
          <p:spPr>
            <a:xfrm>
              <a:off x="10631056" y="4236429"/>
              <a:ext cx="3496879" cy="2548604"/>
            </a:xfrm>
            <a:prstGeom prst="rect">
              <a:avLst/>
            </a:prstGeom>
            <a:noFill/>
          </p:spPr>
          <p:txBody>
            <a:bodyPr wrap="square" rtlCol="0">
              <a:spAutoFit/>
            </a:bodyPr>
            <a:lstStyle/>
            <a:p>
              <a:pPr algn="ctr"/>
              <a:r>
                <a:rPr lang="en-IN" sz="3800" dirty="0">
                  <a:solidFill>
                    <a:schemeClr val="bg1"/>
                  </a:solidFill>
                  <a:latin typeface="Open Sans" panose="020B0606030504020204" pitchFamily="34" charset="0"/>
                  <a:ea typeface="Open Sans" panose="020B0606030504020204" pitchFamily="34" charset="0"/>
                  <a:cs typeface="Open Sans" panose="020B0606030504020204" pitchFamily="34" charset="0"/>
                </a:rPr>
                <a:t>FORECASTING</a:t>
              </a:r>
              <a:r>
                <a:rPr lang="en-IN" sz="4000" dirty="0">
                  <a:solidFill>
                    <a:schemeClr val="bg1"/>
                  </a:solidFill>
                  <a:latin typeface="Open Sans" panose="020B0606030504020204" pitchFamily="34" charset="0"/>
                  <a:ea typeface="Open Sans" panose="020B0606030504020204" pitchFamily="34" charset="0"/>
                  <a:cs typeface="Open Sans" panose="020B0606030504020204" pitchFamily="34" charset="0"/>
                </a:rPr>
                <a:t> AND </a:t>
              </a:r>
              <a:r>
                <a:rPr lang="en-IN" sz="3500" dirty="0">
                  <a:solidFill>
                    <a:schemeClr val="bg1"/>
                  </a:solidFill>
                  <a:latin typeface="Open Sans" panose="020B0606030504020204" pitchFamily="34" charset="0"/>
                  <a:ea typeface="Open Sans" panose="020B0606030504020204" pitchFamily="34" charset="0"/>
                  <a:cs typeface="Open Sans" panose="020B0606030504020204" pitchFamily="34" charset="0"/>
                </a:rPr>
                <a:t>CANCELLATION</a:t>
              </a:r>
              <a:r>
                <a:rPr lang="en-IN" sz="4000" dirty="0">
                  <a:solidFill>
                    <a:schemeClr val="bg1"/>
                  </a:solidFill>
                  <a:latin typeface="Open Sans" panose="020B0606030504020204" pitchFamily="34" charset="0"/>
                  <a:ea typeface="Open Sans" panose="020B0606030504020204" pitchFamily="34" charset="0"/>
                  <a:cs typeface="Open Sans" panose="020B0606030504020204" pitchFamily="34" charset="0"/>
                </a:rPr>
                <a:t> TRENDS</a:t>
              </a:r>
            </a:p>
          </p:txBody>
        </p:sp>
      </p:grpSp>
      <p:grpSp>
        <p:nvGrpSpPr>
          <p:cNvPr id="46" name="Group 45">
            <a:extLst>
              <a:ext uri="{FF2B5EF4-FFF2-40B4-BE49-F238E27FC236}">
                <a16:creationId xmlns:a16="http://schemas.microsoft.com/office/drawing/2014/main" id="{711384EE-4DAE-A3CF-70A3-24EA2D5F84F4}"/>
              </a:ext>
            </a:extLst>
          </p:cNvPr>
          <p:cNvGrpSpPr/>
          <p:nvPr/>
        </p:nvGrpSpPr>
        <p:grpSpPr>
          <a:xfrm>
            <a:off x="6812284" y="10026"/>
            <a:ext cx="3983636" cy="10262938"/>
            <a:chOff x="6772439" y="12032"/>
            <a:chExt cx="3983636" cy="10262938"/>
          </a:xfrm>
        </p:grpSpPr>
        <p:sp>
          <p:nvSpPr>
            <p:cNvPr id="5" name="Rectangle 4">
              <a:extLst>
                <a:ext uri="{FF2B5EF4-FFF2-40B4-BE49-F238E27FC236}">
                  <a16:creationId xmlns:a16="http://schemas.microsoft.com/office/drawing/2014/main" id="{ED1BAC5F-FD14-14C9-C198-9F13AF209E45}"/>
                </a:ext>
              </a:extLst>
            </p:cNvPr>
            <p:cNvSpPr/>
            <p:nvPr/>
          </p:nvSpPr>
          <p:spPr>
            <a:xfrm>
              <a:off x="6772439" y="12032"/>
              <a:ext cx="3563378" cy="10262938"/>
            </a:xfrm>
            <a:prstGeom prst="rect">
              <a:avLst/>
            </a:prstGeom>
            <a:solidFill>
              <a:srgbClr val="4C8F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200"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Isosceles Triangle 25">
              <a:extLst>
                <a:ext uri="{FF2B5EF4-FFF2-40B4-BE49-F238E27FC236}">
                  <a16:creationId xmlns:a16="http://schemas.microsoft.com/office/drawing/2014/main" id="{4379B2DE-EAD6-CC61-0AA5-A0C60534F70E}"/>
                </a:ext>
              </a:extLst>
            </p:cNvPr>
            <p:cNvSpPr/>
            <p:nvPr/>
          </p:nvSpPr>
          <p:spPr>
            <a:xfrm rot="5400000">
              <a:off x="9897122" y="2414100"/>
              <a:ext cx="1336370" cy="381537"/>
            </a:xfrm>
            <a:prstGeom prst="triangle">
              <a:avLst/>
            </a:prstGeom>
            <a:solidFill>
              <a:srgbClr val="4C8F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89BC88BC-BDF4-17DD-C43C-F9E4B8EB2EA5}"/>
                </a:ext>
              </a:extLst>
            </p:cNvPr>
            <p:cNvSpPr txBox="1"/>
            <p:nvPr/>
          </p:nvSpPr>
          <p:spPr>
            <a:xfrm>
              <a:off x="6850970" y="1749475"/>
              <a:ext cx="3496879" cy="1574810"/>
            </a:xfrm>
            <a:prstGeom prst="rect">
              <a:avLst/>
            </a:prstGeom>
            <a:solidFill>
              <a:srgbClr val="4C8F8F"/>
            </a:solidFill>
          </p:spPr>
          <p:txBody>
            <a:bodyPr wrap="square" rtlCol="0">
              <a:spAutoFit/>
            </a:bodyPr>
            <a:lstStyle/>
            <a:p>
              <a:pPr algn="ctr"/>
              <a:r>
                <a:rPr lang="en-IN" sz="9600" b="1" dirty="0">
                  <a:solidFill>
                    <a:schemeClr val="bg1"/>
                  </a:solidFill>
                  <a:latin typeface="Montserrat" panose="00000500000000000000" pitchFamily="2" charset="0"/>
                </a:rPr>
                <a:t>M3</a:t>
              </a:r>
            </a:p>
          </p:txBody>
        </p:sp>
        <p:sp>
          <p:nvSpPr>
            <p:cNvPr id="48" name="TextBox 47">
              <a:extLst>
                <a:ext uri="{FF2B5EF4-FFF2-40B4-BE49-F238E27FC236}">
                  <a16:creationId xmlns:a16="http://schemas.microsoft.com/office/drawing/2014/main" id="{62488622-0B83-04A2-6F5E-DEA67ABF209B}"/>
                </a:ext>
              </a:extLst>
            </p:cNvPr>
            <p:cNvSpPr txBox="1"/>
            <p:nvPr/>
          </p:nvSpPr>
          <p:spPr>
            <a:xfrm>
              <a:off x="6786785" y="4224126"/>
              <a:ext cx="3325930" cy="2031325"/>
            </a:xfrm>
            <a:prstGeom prst="rect">
              <a:avLst/>
            </a:prstGeom>
            <a:solidFill>
              <a:srgbClr val="4C8F8F"/>
            </a:solidFill>
          </p:spPr>
          <p:txBody>
            <a:bodyPr wrap="square" rtlCol="0">
              <a:spAutoFit/>
            </a:bodyPr>
            <a:lstStyle/>
            <a:p>
              <a:pPr algn="ctr"/>
              <a:r>
                <a:rPr lang="en-IN" sz="4200" dirty="0">
                  <a:solidFill>
                    <a:schemeClr val="bg1"/>
                  </a:solidFill>
                  <a:latin typeface="Open Sans" panose="020B0606030504020204" pitchFamily="34" charset="0"/>
                  <a:ea typeface="Open Sans" panose="020B0606030504020204" pitchFamily="34" charset="0"/>
                  <a:cs typeface="Open Sans" panose="020B0606030504020204" pitchFamily="34" charset="0"/>
                </a:rPr>
                <a:t>GUEST ANALYSIS MODULE</a:t>
              </a:r>
            </a:p>
          </p:txBody>
        </p:sp>
      </p:grpSp>
      <p:grpSp>
        <p:nvGrpSpPr>
          <p:cNvPr id="44" name="Group 43">
            <a:extLst>
              <a:ext uri="{FF2B5EF4-FFF2-40B4-BE49-F238E27FC236}">
                <a16:creationId xmlns:a16="http://schemas.microsoft.com/office/drawing/2014/main" id="{EC8FA1BB-CA50-A51A-09CF-A1BDA4AB59C2}"/>
              </a:ext>
            </a:extLst>
          </p:cNvPr>
          <p:cNvGrpSpPr/>
          <p:nvPr/>
        </p:nvGrpSpPr>
        <p:grpSpPr>
          <a:xfrm>
            <a:off x="3463142" y="12031"/>
            <a:ext cx="3744811" cy="10291930"/>
            <a:chOff x="3463142" y="12031"/>
            <a:chExt cx="3744811" cy="10291930"/>
          </a:xfrm>
        </p:grpSpPr>
        <p:sp>
          <p:nvSpPr>
            <p:cNvPr id="3" name="Rectangle 2">
              <a:extLst>
                <a:ext uri="{FF2B5EF4-FFF2-40B4-BE49-F238E27FC236}">
                  <a16:creationId xmlns:a16="http://schemas.microsoft.com/office/drawing/2014/main" id="{115FC214-9EA6-9445-3910-1983159C90EF}"/>
                </a:ext>
              </a:extLst>
            </p:cNvPr>
            <p:cNvSpPr/>
            <p:nvPr/>
          </p:nvSpPr>
          <p:spPr>
            <a:xfrm>
              <a:off x="3473643" y="12031"/>
              <a:ext cx="3342193" cy="10291930"/>
            </a:xfrm>
            <a:prstGeom prst="rect">
              <a:avLst/>
            </a:prstGeom>
            <a:solidFill>
              <a:srgbClr val="387C7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20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35" name="TextBox 34">
              <a:extLst>
                <a:ext uri="{FF2B5EF4-FFF2-40B4-BE49-F238E27FC236}">
                  <a16:creationId xmlns:a16="http://schemas.microsoft.com/office/drawing/2014/main" id="{A3915AE5-3122-87CF-5551-6809FB9CEBAC}"/>
                </a:ext>
              </a:extLst>
            </p:cNvPr>
            <p:cNvSpPr txBox="1"/>
            <p:nvPr/>
          </p:nvSpPr>
          <p:spPr>
            <a:xfrm>
              <a:off x="3473643" y="1715386"/>
              <a:ext cx="3342194" cy="1595768"/>
            </a:xfrm>
            <a:prstGeom prst="rect">
              <a:avLst/>
            </a:prstGeom>
            <a:noFill/>
          </p:spPr>
          <p:txBody>
            <a:bodyPr wrap="square" rtlCol="0">
              <a:spAutoFit/>
            </a:bodyPr>
            <a:lstStyle/>
            <a:p>
              <a:pPr algn="ctr"/>
              <a:r>
                <a:rPr lang="en-IN" sz="9600" b="1" dirty="0">
                  <a:solidFill>
                    <a:schemeClr val="bg1"/>
                  </a:solidFill>
                  <a:latin typeface="Montserrat" panose="00000500000000000000" pitchFamily="2" charset="0"/>
                </a:rPr>
                <a:t>M2</a:t>
              </a:r>
            </a:p>
          </p:txBody>
        </p:sp>
        <p:sp>
          <p:nvSpPr>
            <p:cNvPr id="42" name="TextBox 41">
              <a:extLst>
                <a:ext uri="{FF2B5EF4-FFF2-40B4-BE49-F238E27FC236}">
                  <a16:creationId xmlns:a16="http://schemas.microsoft.com/office/drawing/2014/main" id="{C2A5B8A9-5621-9022-4593-AB718129B588}"/>
                </a:ext>
              </a:extLst>
            </p:cNvPr>
            <p:cNvSpPr txBox="1"/>
            <p:nvPr/>
          </p:nvSpPr>
          <p:spPr>
            <a:xfrm>
              <a:off x="3463142" y="4164204"/>
              <a:ext cx="3259687" cy="2682076"/>
            </a:xfrm>
            <a:prstGeom prst="rect">
              <a:avLst/>
            </a:prstGeom>
            <a:noFill/>
          </p:spPr>
          <p:txBody>
            <a:bodyPr wrap="square" rtlCol="0">
              <a:spAutoFit/>
            </a:bodyPr>
            <a:lstStyle/>
            <a:p>
              <a:pPr algn="ctr"/>
              <a:r>
                <a:rPr lang="en-IN" sz="4000" dirty="0">
                  <a:solidFill>
                    <a:schemeClr val="bg1"/>
                  </a:solidFill>
                  <a:latin typeface="Open Sans" panose="020B0606030504020204" pitchFamily="34" charset="0"/>
                  <a:ea typeface="Open Sans" panose="020B0606030504020204" pitchFamily="34" charset="0"/>
                  <a:cs typeface="Open Sans" panose="020B0606030504020204" pitchFamily="34" charset="0"/>
                </a:rPr>
                <a:t>OCCUPANCY</a:t>
              </a:r>
              <a:r>
                <a:rPr lang="en-IN" sz="4200" dirty="0">
                  <a:solidFill>
                    <a:schemeClr val="bg1"/>
                  </a:solidFill>
                  <a:latin typeface="Open Sans" panose="020B0606030504020204" pitchFamily="34" charset="0"/>
                  <a:ea typeface="Open Sans" panose="020B0606030504020204" pitchFamily="34" charset="0"/>
                  <a:cs typeface="Open Sans" panose="020B0606030504020204" pitchFamily="34" charset="0"/>
                </a:rPr>
                <a:t> AND REVENUE METRICS</a:t>
              </a:r>
            </a:p>
          </p:txBody>
        </p:sp>
        <p:sp>
          <p:nvSpPr>
            <p:cNvPr id="27" name="Isosceles Triangle 26">
              <a:extLst>
                <a:ext uri="{FF2B5EF4-FFF2-40B4-BE49-F238E27FC236}">
                  <a16:creationId xmlns:a16="http://schemas.microsoft.com/office/drawing/2014/main" id="{A276517F-A274-6218-6C0E-539AF4912659}"/>
                </a:ext>
              </a:extLst>
            </p:cNvPr>
            <p:cNvSpPr/>
            <p:nvPr/>
          </p:nvSpPr>
          <p:spPr>
            <a:xfrm rot="16200000" flipH="1" flipV="1">
              <a:off x="6339269" y="2334448"/>
              <a:ext cx="1355834" cy="381535"/>
            </a:xfrm>
            <a:prstGeom prst="triangle">
              <a:avLst>
                <a:gd name="adj" fmla="val 53332"/>
              </a:avLst>
            </a:prstGeom>
            <a:solidFill>
              <a:srgbClr val="387C7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43" name="Group 42">
            <a:extLst>
              <a:ext uri="{FF2B5EF4-FFF2-40B4-BE49-F238E27FC236}">
                <a16:creationId xmlns:a16="http://schemas.microsoft.com/office/drawing/2014/main" id="{324425CF-5FB2-18DE-8120-6A216EF34ADE}"/>
              </a:ext>
            </a:extLst>
          </p:cNvPr>
          <p:cNvGrpSpPr/>
          <p:nvPr/>
        </p:nvGrpSpPr>
        <p:grpSpPr>
          <a:xfrm>
            <a:off x="0" y="12031"/>
            <a:ext cx="3932111" cy="10291930"/>
            <a:chOff x="0" y="12031"/>
            <a:chExt cx="3932111" cy="10291930"/>
          </a:xfrm>
        </p:grpSpPr>
        <p:grpSp>
          <p:nvGrpSpPr>
            <p:cNvPr id="41" name="Group 40">
              <a:extLst>
                <a:ext uri="{FF2B5EF4-FFF2-40B4-BE49-F238E27FC236}">
                  <a16:creationId xmlns:a16="http://schemas.microsoft.com/office/drawing/2014/main" id="{93216FEA-45A9-0406-EA22-ECE2DD9CA271}"/>
                </a:ext>
              </a:extLst>
            </p:cNvPr>
            <p:cNvGrpSpPr/>
            <p:nvPr/>
          </p:nvGrpSpPr>
          <p:grpSpPr>
            <a:xfrm>
              <a:off x="0" y="12031"/>
              <a:ext cx="3461378" cy="10291930"/>
              <a:chOff x="-5701809" y="-1038745"/>
              <a:chExt cx="4173043" cy="10440866"/>
            </a:xfrm>
          </p:grpSpPr>
          <p:sp>
            <p:nvSpPr>
              <p:cNvPr id="11" name="Rectangle 10">
                <a:extLst>
                  <a:ext uri="{FF2B5EF4-FFF2-40B4-BE49-F238E27FC236}">
                    <a16:creationId xmlns:a16="http://schemas.microsoft.com/office/drawing/2014/main" id="{660FC782-7FBC-6239-F135-343B14758069}"/>
                  </a:ext>
                </a:extLst>
              </p:cNvPr>
              <p:cNvSpPr/>
              <p:nvPr/>
            </p:nvSpPr>
            <p:spPr>
              <a:xfrm>
                <a:off x="-5701809" y="-1038745"/>
                <a:ext cx="4173043" cy="10440866"/>
              </a:xfrm>
              <a:prstGeom prst="rect">
                <a:avLst/>
              </a:prstGeom>
              <a:solidFill>
                <a:srgbClr val="2F6A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b="1" dirty="0">
                  <a:solidFill>
                    <a:schemeClr val="bg1"/>
                  </a:solidFill>
                  <a:latin typeface="Montserrat" panose="00000500000000000000" pitchFamily="2" charset="0"/>
                  <a:ea typeface="Open Sans" panose="020B0606030504020204" pitchFamily="34" charset="0"/>
                  <a:cs typeface="Open Sans" panose="020B0606030504020204" pitchFamily="34" charset="0"/>
                </a:endParaRPr>
              </a:p>
              <a:p>
                <a:pPr algn="ctr"/>
                <a:endParaRPr lang="en-IN" sz="4000" b="1" dirty="0">
                  <a:solidFill>
                    <a:schemeClr val="bg1"/>
                  </a:solidFill>
                  <a:latin typeface="Montserrat" panose="00000500000000000000" pitchFamily="2" charset="0"/>
                  <a:ea typeface="Open Sans" panose="020B0606030504020204" pitchFamily="34" charset="0"/>
                  <a:cs typeface="Open Sans" panose="020B0606030504020204" pitchFamily="34" charset="0"/>
                </a:endParaRPr>
              </a:p>
              <a:p>
                <a:pPr algn="ctr"/>
                <a:endParaRPr lang="en-IN" sz="4000" b="1" dirty="0">
                  <a:solidFill>
                    <a:schemeClr val="bg1"/>
                  </a:solidFill>
                  <a:latin typeface="Montserrat" panose="00000500000000000000" pitchFamily="2" charset="0"/>
                  <a:ea typeface="Open Sans" panose="020B0606030504020204" pitchFamily="34" charset="0"/>
                  <a:cs typeface="Open Sans" panose="020B0606030504020204" pitchFamily="34" charset="0"/>
                </a:endParaRPr>
              </a:p>
              <a:p>
                <a:pPr algn="ctr"/>
                <a:endParaRPr lang="en-IN" sz="4000" b="1" dirty="0">
                  <a:solidFill>
                    <a:schemeClr val="bg1"/>
                  </a:solidFill>
                  <a:latin typeface="Montserrat" panose="00000500000000000000" pitchFamily="2" charset="0"/>
                  <a:ea typeface="Open Sans" panose="020B0606030504020204" pitchFamily="34" charset="0"/>
                  <a:cs typeface="Open Sans" panose="020B0606030504020204" pitchFamily="34" charset="0"/>
                </a:endParaRPr>
              </a:p>
              <a:p>
                <a:pPr algn="ctr"/>
                <a:r>
                  <a:rPr lang="en-IN" sz="9600" b="1" dirty="0">
                    <a:solidFill>
                      <a:schemeClr val="bg1"/>
                    </a:solidFill>
                    <a:latin typeface="Montserrat" panose="00000500000000000000" pitchFamily="2" charset="0"/>
                    <a:ea typeface="Open Sans" panose="020B0606030504020204" pitchFamily="34" charset="0"/>
                    <a:cs typeface="Open Sans" panose="020B0606030504020204" pitchFamily="34" charset="0"/>
                  </a:rPr>
                  <a:t>          </a:t>
                </a:r>
              </a:p>
              <a:p>
                <a:pPr algn="ctr"/>
                <a:endParaRPr lang="en-IN" sz="9600" b="1" dirty="0">
                  <a:solidFill>
                    <a:schemeClr val="bg1"/>
                  </a:solidFill>
                  <a:latin typeface="Montserrat" panose="00000500000000000000" pitchFamily="2" charset="0"/>
                  <a:ea typeface="Open Sans" panose="020B0606030504020204" pitchFamily="34" charset="0"/>
                  <a:cs typeface="Open Sans" panose="020B0606030504020204" pitchFamily="34" charset="0"/>
                </a:endParaRPr>
              </a:p>
              <a:p>
                <a:pPr algn="ctr"/>
                <a:endParaRPr lang="en-IN" sz="4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131E7C52-C1FB-FBAA-BC1A-CFC7AA49B855}"/>
                  </a:ext>
                </a:extLst>
              </p:cNvPr>
              <p:cNvSpPr txBox="1"/>
              <p:nvPr/>
            </p:nvSpPr>
            <p:spPr>
              <a:xfrm>
                <a:off x="-5691553" y="3286435"/>
                <a:ext cx="4094487" cy="2720889"/>
              </a:xfrm>
              <a:prstGeom prst="rect">
                <a:avLst/>
              </a:prstGeom>
              <a:noFill/>
            </p:spPr>
            <p:txBody>
              <a:bodyPr wrap="square" rtlCol="0">
                <a:spAutoFit/>
              </a:bodyPr>
              <a:lstStyle/>
              <a:p>
                <a:pPr algn="ctr"/>
                <a:r>
                  <a:rPr lang="en-IN" sz="4200" dirty="0">
                    <a:solidFill>
                      <a:schemeClr val="bg1"/>
                    </a:solidFill>
                    <a:latin typeface="Open Sans" panose="020B0606030504020204" pitchFamily="34" charset="0"/>
                    <a:ea typeface="Open Sans" panose="020B0606030504020204" pitchFamily="34" charset="0"/>
                    <a:cs typeface="Open Sans" panose="020B0606030504020204" pitchFamily="34" charset="0"/>
                  </a:rPr>
                  <a:t>DATA MODELING AND INGESTION</a:t>
                </a:r>
              </a:p>
            </p:txBody>
          </p:sp>
        </p:grpSp>
        <p:sp>
          <p:nvSpPr>
            <p:cNvPr id="7" name="TextBox 6">
              <a:extLst>
                <a:ext uri="{FF2B5EF4-FFF2-40B4-BE49-F238E27FC236}">
                  <a16:creationId xmlns:a16="http://schemas.microsoft.com/office/drawing/2014/main" id="{F70DA8A8-9597-CD4F-CDC6-36A4063B8AED}"/>
                </a:ext>
              </a:extLst>
            </p:cNvPr>
            <p:cNvSpPr txBox="1"/>
            <p:nvPr/>
          </p:nvSpPr>
          <p:spPr>
            <a:xfrm>
              <a:off x="162792" y="1675517"/>
              <a:ext cx="3087647" cy="1572251"/>
            </a:xfrm>
            <a:prstGeom prst="rect">
              <a:avLst/>
            </a:prstGeom>
            <a:noFill/>
          </p:spPr>
          <p:txBody>
            <a:bodyPr wrap="square" rtlCol="0">
              <a:spAutoFit/>
            </a:bodyPr>
            <a:lstStyle/>
            <a:p>
              <a:pPr algn="ctr"/>
              <a:r>
                <a:rPr lang="en-IN" sz="9600" b="1" dirty="0">
                  <a:solidFill>
                    <a:schemeClr val="bg1"/>
                  </a:solidFill>
                  <a:latin typeface="Montserrat" panose="00000500000000000000" pitchFamily="2" charset="0"/>
                </a:rPr>
                <a:t>M1</a:t>
              </a:r>
            </a:p>
          </p:txBody>
        </p:sp>
        <p:sp>
          <p:nvSpPr>
            <p:cNvPr id="10" name="Isosceles Triangle 9">
              <a:extLst>
                <a:ext uri="{FF2B5EF4-FFF2-40B4-BE49-F238E27FC236}">
                  <a16:creationId xmlns:a16="http://schemas.microsoft.com/office/drawing/2014/main" id="{D19CA401-655D-5FDD-DC5C-4F947BEFCC95}"/>
                </a:ext>
              </a:extLst>
            </p:cNvPr>
            <p:cNvSpPr/>
            <p:nvPr/>
          </p:nvSpPr>
          <p:spPr>
            <a:xfrm rot="16200000" flipH="1" flipV="1">
              <a:off x="3036233" y="2396962"/>
              <a:ext cx="1356156" cy="435600"/>
            </a:xfrm>
            <a:prstGeom prst="triangle">
              <a:avLst>
                <a:gd name="adj" fmla="val 50945"/>
              </a:avLst>
            </a:prstGeom>
            <a:solidFill>
              <a:srgbClr val="2F6A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 name="Rectangle 1"/>
          <p:cNvSpPr/>
          <p:nvPr/>
        </p:nvSpPr>
        <p:spPr>
          <a:xfrm>
            <a:off x="14136299" y="4275514"/>
            <a:ext cx="3770701" cy="2123658"/>
          </a:xfrm>
          <a:prstGeom prst="rect">
            <a:avLst/>
          </a:prstGeom>
        </p:spPr>
        <p:txBody>
          <a:bodyPr wrap="square">
            <a:spAutoFit/>
          </a:bodyPr>
          <a:lstStyle/>
          <a:p>
            <a:pPr algn="ctr"/>
            <a:r>
              <a:rPr lang="en-IN" sz="3800" dirty="0">
                <a:solidFill>
                  <a:schemeClr val="bg1"/>
                </a:solidFill>
                <a:latin typeface="Open Sans" panose="020B0606030504020204" pitchFamily="34" charset="0"/>
                <a:ea typeface="Open Sans" panose="020B0606030504020204" pitchFamily="34" charset="0"/>
                <a:cs typeface="Open Sans" panose="020B0606030504020204" pitchFamily="34" charset="0"/>
              </a:rPr>
              <a:t>REVENUE STRATEGY DASHBOARD</a:t>
            </a:r>
          </a:p>
          <a:p>
            <a:pPr algn="ctr"/>
            <a:endParaRPr lang="en-IN"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317010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386C44A9-CF92-9A50-FE26-B3FD2996BE9C}"/>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8F998D93-D24F-ED91-9B29-093E298C9CCB}"/>
              </a:ext>
            </a:extLst>
          </p:cNvPr>
          <p:cNvSpPr txBox="1"/>
          <p:nvPr/>
        </p:nvSpPr>
        <p:spPr>
          <a:xfrm>
            <a:off x="987191" y="889987"/>
            <a:ext cx="9887015"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REQUIREMENT ANALYSIS</a:t>
            </a:r>
          </a:p>
        </p:txBody>
      </p:sp>
      <p:sp>
        <p:nvSpPr>
          <p:cNvPr id="16" name="TextBox 16">
            <a:extLst>
              <a:ext uri="{FF2B5EF4-FFF2-40B4-BE49-F238E27FC236}">
                <a16:creationId xmlns:a16="http://schemas.microsoft.com/office/drawing/2014/main" id="{F055F398-61CA-B67B-C6CA-13C9BFAA2985}"/>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pic>
        <p:nvPicPr>
          <p:cNvPr id="33" name="Picture 32">
            <a:extLst>
              <a:ext uri="{FF2B5EF4-FFF2-40B4-BE49-F238E27FC236}">
                <a16:creationId xmlns:a16="http://schemas.microsoft.com/office/drawing/2014/main" id="{45E360A0-E015-A632-97E2-E6E47E0F49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2735764"/>
            <a:ext cx="1584000" cy="1584000"/>
          </a:xfrm>
          <a:prstGeom prst="rect">
            <a:avLst/>
          </a:prstGeom>
        </p:spPr>
      </p:pic>
      <p:pic>
        <p:nvPicPr>
          <p:cNvPr id="35" name="Picture 34">
            <a:extLst>
              <a:ext uri="{FF2B5EF4-FFF2-40B4-BE49-F238E27FC236}">
                <a16:creationId xmlns:a16="http://schemas.microsoft.com/office/drawing/2014/main" id="{45520B4B-E0AB-4997-2C45-7A30ADA85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6385937"/>
            <a:ext cx="1584000" cy="1584000"/>
          </a:xfrm>
          <a:prstGeom prst="rect">
            <a:avLst/>
          </a:prstGeom>
        </p:spPr>
      </p:pic>
      <p:pic>
        <p:nvPicPr>
          <p:cNvPr id="41" name="Picture 40">
            <a:extLst>
              <a:ext uri="{FF2B5EF4-FFF2-40B4-BE49-F238E27FC236}">
                <a16:creationId xmlns:a16="http://schemas.microsoft.com/office/drawing/2014/main" id="{AA11E81C-925D-B56E-22DD-59AA2BB206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43882" y="6183818"/>
            <a:ext cx="1584000" cy="1584000"/>
          </a:xfrm>
          <a:prstGeom prst="rect">
            <a:avLst/>
          </a:prstGeom>
        </p:spPr>
      </p:pic>
      <p:sp>
        <p:nvSpPr>
          <p:cNvPr id="43" name="TextBox 42">
            <a:extLst>
              <a:ext uri="{FF2B5EF4-FFF2-40B4-BE49-F238E27FC236}">
                <a16:creationId xmlns:a16="http://schemas.microsoft.com/office/drawing/2014/main" id="{BAA467AE-CE62-6CB3-4636-98650987D3AC}"/>
              </a:ext>
            </a:extLst>
          </p:cNvPr>
          <p:cNvSpPr txBox="1"/>
          <p:nvPr/>
        </p:nvSpPr>
        <p:spPr>
          <a:xfrm>
            <a:off x="2879399" y="2690228"/>
            <a:ext cx="6089851" cy="1988237"/>
          </a:xfrm>
          <a:prstGeom prst="rect">
            <a:avLst/>
          </a:prstGeom>
          <a:noFill/>
        </p:spPr>
        <p:txBody>
          <a:bodyPr wrap="square" rtlCol="0">
            <a:spAutoFit/>
          </a:bodyPr>
          <a:lstStyle/>
          <a:p>
            <a:pPr algn="ctr">
              <a:lnSpc>
                <a:spcPct val="200000"/>
              </a:lnSpc>
            </a:pPr>
            <a:r>
              <a:rPr lang="en-IN"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MICROSOFT EXCEL</a:t>
            </a:r>
            <a:endParaRPr lang="en-IN" sz="256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IN"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Data Cleaning and Preprocessing</a:t>
            </a:r>
          </a:p>
          <a:p>
            <a:endParaRPr lang="en-IN"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TextBox 45">
            <a:extLst>
              <a:ext uri="{FF2B5EF4-FFF2-40B4-BE49-F238E27FC236}">
                <a16:creationId xmlns:a16="http://schemas.microsoft.com/office/drawing/2014/main" id="{04CEDAFA-A8EC-2409-7BEA-AF122BECC0CD}"/>
              </a:ext>
            </a:extLst>
          </p:cNvPr>
          <p:cNvSpPr txBox="1"/>
          <p:nvPr/>
        </p:nvSpPr>
        <p:spPr>
          <a:xfrm>
            <a:off x="3052468" y="5981700"/>
            <a:ext cx="4827304" cy="1988237"/>
          </a:xfrm>
          <a:prstGeom prst="rect">
            <a:avLst/>
          </a:prstGeom>
          <a:noFill/>
        </p:spPr>
        <p:txBody>
          <a:bodyPr wrap="square">
            <a:spAutoFit/>
          </a:bodyPr>
          <a:lstStyle/>
          <a:p>
            <a:pPr algn="ctr">
              <a:lnSpc>
                <a:spcPct val="200000"/>
              </a:lnSpc>
            </a:pPr>
            <a:r>
              <a:rPr lang="en-IN"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POWER</a:t>
            </a:r>
            <a:r>
              <a:rPr lang="en-IN" sz="24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t>
            </a:r>
            <a:r>
              <a:rPr lang="en-IN"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BI</a:t>
            </a:r>
          </a:p>
          <a:p>
            <a:pPr algn="ctr"/>
            <a:r>
              <a:rPr lang="en-IN"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Dashboard Creation and Development</a:t>
            </a:r>
          </a:p>
        </p:txBody>
      </p:sp>
      <p:sp>
        <p:nvSpPr>
          <p:cNvPr id="54" name="TextBox 53">
            <a:extLst>
              <a:ext uri="{FF2B5EF4-FFF2-40B4-BE49-F238E27FC236}">
                <a16:creationId xmlns:a16="http://schemas.microsoft.com/office/drawing/2014/main" id="{E7F61E07-C03F-A90B-5D08-6DB83195811E}"/>
              </a:ext>
            </a:extLst>
          </p:cNvPr>
          <p:cNvSpPr txBox="1"/>
          <p:nvPr/>
        </p:nvSpPr>
        <p:spPr>
          <a:xfrm>
            <a:off x="11468100" y="2690228"/>
            <a:ext cx="5018641" cy="1594283"/>
          </a:xfrm>
          <a:prstGeom prst="rect">
            <a:avLst/>
          </a:prstGeom>
          <a:noFill/>
        </p:spPr>
        <p:txBody>
          <a:bodyPr wrap="square" rtlCol="0">
            <a:spAutoFit/>
          </a:bodyPr>
          <a:lstStyle/>
          <a:p>
            <a:pPr algn="ctr">
              <a:lnSpc>
                <a:spcPct val="200000"/>
              </a:lnSpc>
            </a:pPr>
            <a:r>
              <a:rPr lang="en-IN" sz="3600" b="1" dirty="0" err="1"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Kaggle</a:t>
            </a:r>
            <a:r>
              <a:rPr lang="en-IN" sz="3600" b="1"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(CHROME</a:t>
            </a:r>
            <a:r>
              <a:rPr lang="en-IN" sz="3600" b="1"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t>
            </a:r>
            <a:endParaRPr lang="en-IN"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IN"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t>
            </a:r>
            <a:r>
              <a:rPr lang="en-IN"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Data Sourcing and Resources</a:t>
            </a:r>
          </a:p>
        </p:txBody>
      </p:sp>
      <p:sp>
        <p:nvSpPr>
          <p:cNvPr id="55" name="TextBox 54">
            <a:extLst>
              <a:ext uri="{FF2B5EF4-FFF2-40B4-BE49-F238E27FC236}">
                <a16:creationId xmlns:a16="http://schemas.microsoft.com/office/drawing/2014/main" id="{66B51264-EC74-8549-EEF5-6CD023606370}"/>
              </a:ext>
            </a:extLst>
          </p:cNvPr>
          <p:cNvSpPr txBox="1"/>
          <p:nvPr/>
        </p:nvSpPr>
        <p:spPr>
          <a:xfrm>
            <a:off x="11674019" y="5981700"/>
            <a:ext cx="4831772" cy="1594283"/>
          </a:xfrm>
          <a:prstGeom prst="rect">
            <a:avLst/>
          </a:prstGeom>
          <a:noFill/>
        </p:spPr>
        <p:txBody>
          <a:bodyPr wrap="none" rtlCol="0">
            <a:spAutoFit/>
          </a:bodyPr>
          <a:lstStyle/>
          <a:p>
            <a:pPr algn="ctr">
              <a:lnSpc>
                <a:spcPct val="200000"/>
              </a:lnSpc>
            </a:pPr>
            <a:r>
              <a:rPr lang="en-IN"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MICROSOFT WORD</a:t>
            </a:r>
          </a:p>
          <a:p>
            <a:pPr algn="ctr"/>
            <a:r>
              <a:rPr lang="en-IN"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Documentation and Reporting</a:t>
            </a: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17178" y="3092838"/>
            <a:ext cx="1802994" cy="1802994"/>
          </a:xfrm>
          <a:prstGeom prst="rect">
            <a:avLst/>
          </a:prstGeom>
        </p:spPr>
      </p:pic>
    </p:spTree>
    <p:extLst>
      <p:ext uri="{BB962C8B-B14F-4D97-AF65-F5344CB8AC3E}">
        <p14:creationId xmlns:p14="http://schemas.microsoft.com/office/powerpoint/2010/main" val="4923118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9B0604ED-A6DD-D227-5F5D-06ACA2A645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2ACB96B-C8D8-218A-5E2D-232C6A8C59CE}"/>
              </a:ext>
            </a:extLst>
          </p:cNvPr>
          <p:cNvGrpSpPr/>
          <p:nvPr/>
        </p:nvGrpSpPr>
        <p:grpSpPr>
          <a:xfrm>
            <a:off x="0" y="0"/>
            <a:ext cx="18288000" cy="10287000"/>
            <a:chOff x="0" y="0"/>
            <a:chExt cx="4816593" cy="2709333"/>
          </a:xfrm>
        </p:grpSpPr>
        <p:sp>
          <p:nvSpPr>
            <p:cNvPr id="3" name="Freeform 3">
              <a:extLst>
                <a:ext uri="{FF2B5EF4-FFF2-40B4-BE49-F238E27FC236}">
                  <a16:creationId xmlns:a16="http://schemas.microsoft.com/office/drawing/2014/main" id="{345D347D-F851-DF3F-D28A-336D832604A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txBody>
            <a:bodyPr/>
            <a:lstStyle/>
            <a:p>
              <a:endParaRPr lang="en-IN" dirty="0"/>
            </a:p>
          </p:txBody>
        </p:sp>
        <p:sp>
          <p:nvSpPr>
            <p:cNvPr id="4" name="TextBox 4">
              <a:extLst>
                <a:ext uri="{FF2B5EF4-FFF2-40B4-BE49-F238E27FC236}">
                  <a16:creationId xmlns:a16="http://schemas.microsoft.com/office/drawing/2014/main" id="{E94DECC7-75CE-6D04-B75F-89742A660163}"/>
                </a:ext>
              </a:extLst>
            </p:cNvPr>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sp>
        <p:nvSpPr>
          <p:cNvPr id="9" name="TextBox 9">
            <a:extLst>
              <a:ext uri="{FF2B5EF4-FFF2-40B4-BE49-F238E27FC236}">
                <a16:creationId xmlns:a16="http://schemas.microsoft.com/office/drawing/2014/main" id="{3933821F-08F4-E7F7-048E-667243132F16}"/>
              </a:ext>
            </a:extLst>
          </p:cNvPr>
          <p:cNvSpPr txBox="1"/>
          <p:nvPr/>
        </p:nvSpPr>
        <p:spPr>
          <a:xfrm>
            <a:off x="1160876" y="725004"/>
            <a:ext cx="9179979"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DATA FLOW DIAGRAM</a:t>
            </a:r>
          </a:p>
        </p:txBody>
      </p:sp>
      <p:sp>
        <p:nvSpPr>
          <p:cNvPr id="16" name="TextBox 16">
            <a:extLst>
              <a:ext uri="{FF2B5EF4-FFF2-40B4-BE49-F238E27FC236}">
                <a16:creationId xmlns:a16="http://schemas.microsoft.com/office/drawing/2014/main" id="{E518309F-CD76-D36D-8335-78AC4AA4985D}"/>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31D55851-B508-B006-FD97-CC9F92450620}"/>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9925"/>
          <a:stretch/>
        </p:blipFill>
        <p:spPr>
          <a:xfrm>
            <a:off x="2895600" y="1866900"/>
            <a:ext cx="13335000" cy="8007715"/>
          </a:xfrm>
          <a:prstGeom prst="rect">
            <a:avLst/>
          </a:prstGeom>
        </p:spPr>
      </p:pic>
    </p:spTree>
    <p:extLst>
      <p:ext uri="{BB962C8B-B14F-4D97-AF65-F5344CB8AC3E}">
        <p14:creationId xmlns:p14="http://schemas.microsoft.com/office/powerpoint/2010/main" val="10023453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3232CAB2-5154-0603-5B01-5535AFC3C4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568FD4-8DB5-2A38-5587-3D23C57D9A5A}"/>
              </a:ext>
            </a:extLst>
          </p:cNvPr>
          <p:cNvGrpSpPr/>
          <p:nvPr/>
        </p:nvGrpSpPr>
        <p:grpSpPr>
          <a:xfrm>
            <a:off x="0" y="0"/>
            <a:ext cx="18288000" cy="10287000"/>
            <a:chOff x="0" y="0"/>
            <a:chExt cx="4816593" cy="2709333"/>
          </a:xfrm>
        </p:grpSpPr>
        <p:sp>
          <p:nvSpPr>
            <p:cNvPr id="3" name="Freeform 3">
              <a:extLst>
                <a:ext uri="{FF2B5EF4-FFF2-40B4-BE49-F238E27FC236}">
                  <a16:creationId xmlns:a16="http://schemas.microsoft.com/office/drawing/2014/main" id="{BFB640AB-0A26-58E8-228A-CF9C78FB8ED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txBody>
            <a:bodyPr/>
            <a:lstStyle/>
            <a:p>
              <a:endParaRPr lang="en-IN" dirty="0"/>
            </a:p>
          </p:txBody>
        </p:sp>
        <p:sp>
          <p:nvSpPr>
            <p:cNvPr id="4" name="TextBox 4">
              <a:extLst>
                <a:ext uri="{FF2B5EF4-FFF2-40B4-BE49-F238E27FC236}">
                  <a16:creationId xmlns:a16="http://schemas.microsoft.com/office/drawing/2014/main" id="{61C26361-92E8-3908-5C5D-E7ADD9CCCCB9}"/>
                </a:ext>
              </a:extLst>
            </p:cNvPr>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sp>
        <p:nvSpPr>
          <p:cNvPr id="9" name="TextBox 9">
            <a:extLst>
              <a:ext uri="{FF2B5EF4-FFF2-40B4-BE49-F238E27FC236}">
                <a16:creationId xmlns:a16="http://schemas.microsoft.com/office/drawing/2014/main" id="{A0814774-8F62-C7F1-33E3-71979B6746CB}"/>
              </a:ext>
            </a:extLst>
          </p:cNvPr>
          <p:cNvSpPr txBox="1"/>
          <p:nvPr/>
        </p:nvSpPr>
        <p:spPr>
          <a:xfrm>
            <a:off x="1160876" y="725004"/>
            <a:ext cx="9179979"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SYSTEM ARCHITECTURE</a:t>
            </a:r>
          </a:p>
        </p:txBody>
      </p:sp>
      <p:sp>
        <p:nvSpPr>
          <p:cNvPr id="16" name="TextBox 16">
            <a:extLst>
              <a:ext uri="{FF2B5EF4-FFF2-40B4-BE49-F238E27FC236}">
                <a16:creationId xmlns:a16="http://schemas.microsoft.com/office/drawing/2014/main" id="{E1C05043-A5FE-22FE-947B-FF772E2C547B}"/>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E261FE68-E4BC-880B-5AAD-3FB39E1D4E73}"/>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13433"/>
          <a:stretch/>
        </p:blipFill>
        <p:spPr>
          <a:xfrm>
            <a:off x="2743200" y="2019300"/>
            <a:ext cx="13360158" cy="7710316"/>
          </a:xfrm>
          <a:prstGeom prst="rect">
            <a:avLst/>
          </a:prstGeom>
        </p:spPr>
      </p:pic>
    </p:spTree>
    <p:extLst>
      <p:ext uri="{BB962C8B-B14F-4D97-AF65-F5344CB8AC3E}">
        <p14:creationId xmlns:p14="http://schemas.microsoft.com/office/powerpoint/2010/main" val="17498421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376DA460-34F2-0013-18BF-BABEA447EE7C}"/>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BE04D0DB-F08D-3B92-74B4-1D67C6C8C417}"/>
              </a:ext>
            </a:extLst>
          </p:cNvPr>
          <p:cNvSpPr txBox="1"/>
          <p:nvPr/>
        </p:nvSpPr>
        <p:spPr>
          <a:xfrm>
            <a:off x="0" y="-72330"/>
            <a:ext cx="18288000" cy="10359331"/>
          </a:xfrm>
          <a:prstGeom prst="rect">
            <a:avLst/>
          </a:prstGeom>
        </p:spPr>
        <p:txBody>
          <a:bodyPr lIns="50800" tIns="50800" rIns="50800" bIns="50800" rtlCol="0" anchor="ctr"/>
          <a:lstStyle/>
          <a:p>
            <a:pPr algn="ctr">
              <a:lnSpc>
                <a:spcPts val="1874"/>
              </a:lnSpc>
            </a:pPr>
            <a:endParaRPr/>
          </a:p>
        </p:txBody>
      </p:sp>
      <p:sp>
        <p:nvSpPr>
          <p:cNvPr id="9" name="TextBox 9">
            <a:extLst>
              <a:ext uri="{FF2B5EF4-FFF2-40B4-BE49-F238E27FC236}">
                <a16:creationId xmlns:a16="http://schemas.microsoft.com/office/drawing/2014/main" id="{DD5FB327-C958-76D6-ED73-318A545C5FA6}"/>
              </a:ext>
            </a:extLst>
          </p:cNvPr>
          <p:cNvSpPr txBox="1"/>
          <p:nvPr/>
        </p:nvSpPr>
        <p:spPr>
          <a:xfrm>
            <a:off x="838745" y="662656"/>
            <a:ext cx="10058400"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DATASET DESCRIPTION</a:t>
            </a:r>
          </a:p>
        </p:txBody>
      </p:sp>
      <p:sp>
        <p:nvSpPr>
          <p:cNvPr id="16" name="TextBox 16">
            <a:extLst>
              <a:ext uri="{FF2B5EF4-FFF2-40B4-BE49-F238E27FC236}">
                <a16:creationId xmlns:a16="http://schemas.microsoft.com/office/drawing/2014/main" id="{8C7C2C29-C113-5CE6-0524-E91371EB439E}"/>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612A29C0-010F-DAF2-E973-E72B65A6A1FE}"/>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5" name="TextBox 4">
            <a:extLst>
              <a:ext uri="{FF2B5EF4-FFF2-40B4-BE49-F238E27FC236}">
                <a16:creationId xmlns:a16="http://schemas.microsoft.com/office/drawing/2014/main" id="{4984CA2D-4750-405E-3A36-ECE30A795617}"/>
              </a:ext>
            </a:extLst>
          </p:cNvPr>
          <p:cNvSpPr txBox="1"/>
          <p:nvPr/>
        </p:nvSpPr>
        <p:spPr>
          <a:xfrm>
            <a:off x="1149926" y="1741730"/>
            <a:ext cx="16109373" cy="7368171"/>
          </a:xfrm>
          <a:prstGeom prst="rect">
            <a:avLst/>
          </a:prstGeom>
          <a:noFill/>
        </p:spPr>
        <p:txBody>
          <a:bodyPr wrap="square" rtlCol="0">
            <a:spAutoFit/>
          </a:bodyPr>
          <a:lstStyle/>
          <a:p>
            <a:pPr lvl="0">
              <a:lnSpc>
                <a:spcPct val="150000"/>
              </a:lnSpc>
            </a:pPr>
            <a:r>
              <a:rPr lang="en-IN" sz="3600" dirty="0"/>
              <a:t>📊</a:t>
            </a: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 Data</a:t>
            </a:r>
          </a:p>
          <a:p>
            <a:pPr marL="457200" indent="-457200">
              <a:buFont typeface="Arial" panose="020B0604020202020204" pitchFamily="34" charset="0"/>
              <a:buChar char="•"/>
            </a:pPr>
            <a:r>
              <a:rPr lang="en-US" sz="2800" dirty="0">
                <a:solidFill>
                  <a:schemeClr val="bg1">
                    <a:lumMod val="95000"/>
                  </a:schemeClr>
                </a:solidFill>
                <a:latin typeface="Open Sans "/>
              </a:rPr>
              <a:t>Booking ID   • Check-in   • Check-out    • Channel   • Total Amount    • Nights</a:t>
            </a:r>
            <a:endParaRPr lang="en-US" sz="2560" dirty="0">
              <a:solidFill>
                <a:schemeClr val="bg1">
                  <a:lumMod val="95000"/>
                </a:schemeClr>
              </a:solidFill>
              <a:latin typeface="Open Sans "/>
              <a:ea typeface="Open Sans" panose="020B0606030504020204" pitchFamily="34" charset="0"/>
              <a:cs typeface="Open Sans" panose="020B0606030504020204" pitchFamily="34" charset="0"/>
            </a:endParaRPr>
          </a:p>
          <a:p>
            <a:pPr lvl="0">
              <a:lnSpc>
                <a:spcPct val="150000"/>
              </a:lnSpc>
            </a:pPr>
            <a:r>
              <a:rPr lang="en-IN" sz="4000" dirty="0"/>
              <a:t>👤</a:t>
            </a: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Customer Data</a:t>
            </a:r>
            <a:endParaRPr lang="en-US" sz="40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457200" lvl="0" indent="-457200">
              <a:buFont typeface="Arial" panose="020B0604020202020204" pitchFamily="34" charset="0"/>
              <a:buChar char="•"/>
            </a:pP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800" dirty="0">
                <a:solidFill>
                  <a:schemeClr val="bg1">
                    <a:lumMod val="95000"/>
                  </a:schemeClr>
                </a:solidFill>
                <a:latin typeface="Open Sans "/>
              </a:rPr>
              <a:t>Customer ID   • Nationality   • Guest Type    • Stay Purpose</a:t>
            </a:r>
            <a:endParaRPr lang="en-US" sz="2560" dirty="0">
              <a:solidFill>
                <a:schemeClr val="bg1">
                  <a:lumMod val="95000"/>
                </a:schemeClr>
              </a:solidFill>
              <a:latin typeface="Open Sans "/>
              <a:ea typeface="Open Sans" panose="020B0606030504020204" pitchFamily="34" charset="0"/>
              <a:cs typeface="Open Sans" panose="020B0606030504020204" pitchFamily="34" charset="0"/>
            </a:endParaRPr>
          </a:p>
          <a:p>
            <a:pPr lvl="0">
              <a:lnSpc>
                <a:spcPct val="150000"/>
              </a:lnSpc>
            </a:pPr>
            <a:r>
              <a:rPr lang="en-IN" sz="3600" dirty="0"/>
              <a:t>🛏 </a:t>
            </a: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Room Data</a:t>
            </a:r>
          </a:p>
          <a:p>
            <a:pPr marL="457200" indent="-457200">
              <a:buFont typeface="Arial" panose="020B0604020202020204" pitchFamily="34" charset="0"/>
              <a:buChar char="•"/>
            </a:pPr>
            <a:r>
              <a:rPr lang="en-US" sz="2800" dirty="0">
                <a:solidFill>
                  <a:schemeClr val="bg1">
                    <a:lumMod val="95000"/>
                  </a:schemeClr>
                </a:solidFill>
              </a:rPr>
              <a:t>Room ID    • Room Type    • Category      • Total Rooms</a:t>
            </a:r>
          </a:p>
          <a:p>
            <a:pPr lvl="0">
              <a:lnSpc>
                <a:spcPct val="150000"/>
              </a:lnSpc>
            </a:pPr>
            <a:r>
              <a:rPr lang="en-IN" sz="4000" dirty="0"/>
              <a:t>🏨</a:t>
            </a: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Hotel Branch Data </a:t>
            </a:r>
          </a:p>
          <a:p>
            <a:pPr marL="457200" lvl="0" indent="-457200">
              <a:buFont typeface="Arial" panose="020B0604020202020204" pitchFamily="34" charset="0"/>
              <a:buChar char="•"/>
            </a:pPr>
            <a:r>
              <a:rPr lang="en-US" sz="2560" dirty="0">
                <a:solidFill>
                  <a:schemeClr val="bg1">
                    <a:lumMod val="95000"/>
                  </a:schemeClr>
                </a:solidFill>
                <a:latin typeface="Open Sans "/>
              </a:rPr>
              <a:t>Hotel ID     • City     • Region    • Hotel Name</a:t>
            </a:r>
            <a:endParaRPr lang="en-US" sz="2560" b="1" dirty="0">
              <a:solidFill>
                <a:schemeClr val="bg1">
                  <a:lumMod val="95000"/>
                </a:schemeClr>
              </a:solidFill>
              <a:latin typeface="Open Sans "/>
              <a:ea typeface="Open Sans" panose="020B0606030504020204" pitchFamily="34" charset="0"/>
              <a:cs typeface="Open Sans" panose="020B0606030504020204" pitchFamily="34" charset="0"/>
            </a:endParaRPr>
          </a:p>
          <a:p>
            <a:pPr lvl="0">
              <a:lnSpc>
                <a:spcPct val="150000"/>
              </a:lnSpc>
            </a:pPr>
            <a:r>
              <a:rPr lang="en-IN" sz="4000" dirty="0"/>
              <a:t>📅</a:t>
            </a: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Date Table</a:t>
            </a:r>
          </a:p>
          <a:p>
            <a:pPr marL="457200" lvl="0" indent="-457200">
              <a:buFont typeface="Arial" panose="020B0604020202020204" pitchFamily="34" charset="0"/>
              <a:buChar char="•"/>
            </a:pPr>
            <a:r>
              <a:rPr lang="en-IN" sz="2560" dirty="0">
                <a:solidFill>
                  <a:schemeClr val="bg1">
                    <a:lumMod val="95000"/>
                  </a:schemeClr>
                </a:solidFill>
                <a:latin typeface="Open Sans "/>
              </a:rPr>
              <a:t>Year   • Quarter     • Month       • Season</a:t>
            </a:r>
          </a:p>
          <a:p>
            <a:pPr lvl="0"/>
            <a:endParaRPr lang="en-IN" sz="2560" dirty="0">
              <a:solidFill>
                <a:schemeClr val="bg1">
                  <a:lumMod val="95000"/>
                </a:schemeClr>
              </a:solidFill>
              <a:latin typeface="Open Sans "/>
              <a:ea typeface="Open Sans" panose="020B0606030504020204" pitchFamily="34" charset="0"/>
              <a:cs typeface="Open Sans" panose="020B0606030504020204" pitchFamily="34" charset="0"/>
            </a:endParaRPr>
          </a:p>
          <a:p>
            <a:r>
              <a:rPr lang="en-US" sz="2800" dirty="0">
                <a:solidFill>
                  <a:schemeClr val="bg1">
                    <a:lumMod val="95000"/>
                  </a:schemeClr>
                </a:solidFill>
                <a:latin typeface="Open Sans "/>
              </a:rPr>
              <a:t>These datasets are loaded into Power BI using structured data ingestion techniques</a:t>
            </a:r>
            <a:endParaRPr lang="en-IN" sz="2800" dirty="0">
              <a:solidFill>
                <a:schemeClr val="bg1">
                  <a:lumMod val="95000"/>
                </a:schemeClr>
              </a:solidFill>
              <a:latin typeface="Open Sans "/>
            </a:endParaRPr>
          </a:p>
        </p:txBody>
      </p:sp>
    </p:spTree>
    <p:extLst>
      <p:ext uri="{BB962C8B-B14F-4D97-AF65-F5344CB8AC3E}">
        <p14:creationId xmlns:p14="http://schemas.microsoft.com/office/powerpoint/2010/main" val="37676654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35CD8503-F331-7CC6-E07D-E64FB819FF0E}"/>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D47897DA-5F26-DA22-B971-7C51801889CE}"/>
              </a:ext>
            </a:extLst>
          </p:cNvPr>
          <p:cNvSpPr txBox="1"/>
          <p:nvPr/>
        </p:nvSpPr>
        <p:spPr>
          <a:xfrm>
            <a:off x="615634" y="730672"/>
            <a:ext cx="16822324" cy="987450"/>
          </a:xfrm>
          <a:prstGeom prst="rect">
            <a:avLst/>
          </a:prstGeom>
        </p:spPr>
        <p:txBody>
          <a:bodyPr wrap="square" lIns="0" tIns="0" rIns="0" bIns="0" rtlCol="0" anchor="t">
            <a:spAutoFit/>
          </a:bodyPr>
          <a:lstStyle/>
          <a:p>
            <a:pPr algn="ctr">
              <a:lnSpc>
                <a:spcPts val="7700"/>
              </a:lnSpc>
            </a:pPr>
            <a:r>
              <a:rPr lang="en-US" sz="4800" b="1" dirty="0">
                <a:solidFill>
                  <a:srgbClr val="FBB111"/>
                </a:solidFill>
                <a:latin typeface="Montserrat Bold"/>
                <a:ea typeface="Montserrat Bold"/>
                <a:cs typeface="Montserrat Bold"/>
                <a:sym typeface="Montserrat Bold"/>
              </a:rPr>
              <a:t>DATA MODELING AND INGESTION</a:t>
            </a:r>
          </a:p>
        </p:txBody>
      </p:sp>
      <p:sp>
        <p:nvSpPr>
          <p:cNvPr id="16" name="TextBox 16">
            <a:extLst>
              <a:ext uri="{FF2B5EF4-FFF2-40B4-BE49-F238E27FC236}">
                <a16:creationId xmlns:a16="http://schemas.microsoft.com/office/drawing/2014/main" id="{663467EB-876F-B865-1F59-6AD4C475B1BD}"/>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pic>
        <p:nvPicPr>
          <p:cNvPr id="17" name="Picture 16">
            <a:extLst>
              <a:ext uri="{FF2B5EF4-FFF2-40B4-BE49-F238E27FC236}">
                <a16:creationId xmlns:a16="http://schemas.microsoft.com/office/drawing/2014/main" id="{40042A8B-7A55-22DD-9EF8-06BF711B7004}"/>
              </a:ext>
            </a:extLst>
          </p:cNvPr>
          <p:cNvPicPr>
            <a:picLocks noChangeAspect="1"/>
          </p:cNvPicPr>
          <p:nvPr/>
        </p:nvPicPr>
        <p:blipFill>
          <a:blip r:embed="rId2"/>
          <a:stretch>
            <a:fillRect/>
          </a:stretch>
        </p:blipFill>
        <p:spPr>
          <a:xfrm>
            <a:off x="894720" y="2710894"/>
            <a:ext cx="7848601" cy="6147108"/>
          </a:xfrm>
          <a:prstGeom prst="rect">
            <a:avLst/>
          </a:prstGeom>
        </p:spPr>
      </p:pic>
      <p:sp>
        <p:nvSpPr>
          <p:cNvPr id="4" name="TextBox 3">
            <a:extLst>
              <a:ext uri="{FF2B5EF4-FFF2-40B4-BE49-F238E27FC236}">
                <a16:creationId xmlns:a16="http://schemas.microsoft.com/office/drawing/2014/main" id="{11D4F107-F150-1BA9-54D9-BCBD420FFE64}"/>
              </a:ext>
            </a:extLst>
          </p:cNvPr>
          <p:cNvSpPr txBox="1"/>
          <p:nvPr/>
        </p:nvSpPr>
        <p:spPr>
          <a:xfrm>
            <a:off x="9305338" y="2019300"/>
            <a:ext cx="8087942" cy="7848302"/>
          </a:xfrm>
          <a:prstGeom prst="rect">
            <a:avLst/>
          </a:prstGeom>
          <a:noFill/>
        </p:spPr>
        <p:txBody>
          <a:bodyPr wrap="square" rtlCol="0">
            <a:spAutoFit/>
          </a:bodyPr>
          <a:lstStyle/>
          <a:p>
            <a:r>
              <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Collection of booking, customer, room, hotel, and date datasets</a:t>
            </a:r>
          </a:p>
          <a:p>
            <a:endPar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Data cleaning and preprocessing using Microsoft Excel</a:t>
            </a:r>
          </a:p>
          <a:p>
            <a:endPar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Loading structured and prepared data into Power BI</a:t>
            </a:r>
          </a:p>
          <a:p>
            <a:endPar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Implementation of Star Schema model with proper relationships</a:t>
            </a:r>
          </a:p>
          <a:p>
            <a:endPar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Bookings as Fact Table and Customer, Room, Hotel, Date as Dimension Tables</a:t>
            </a:r>
          </a:p>
          <a:p>
            <a:endPar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Creation of calculated columns to ensure accurate analysis and optimized performance</a:t>
            </a:r>
          </a:p>
          <a:p>
            <a:endParaRPr lang="en-IN" sz="28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221100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43819266-2DBD-3DC8-46C4-CB2865F1BB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FFF239-57E7-99F3-DDF7-82BF60169E09}"/>
              </a:ext>
            </a:extLst>
          </p:cNvPr>
          <p:cNvGrpSpPr/>
          <p:nvPr/>
        </p:nvGrpSpPr>
        <p:grpSpPr>
          <a:xfrm>
            <a:off x="0" y="0"/>
            <a:ext cx="18288000" cy="10287000"/>
            <a:chOff x="0" y="0"/>
            <a:chExt cx="4816593" cy="2709333"/>
          </a:xfrm>
        </p:grpSpPr>
        <p:sp>
          <p:nvSpPr>
            <p:cNvPr id="3" name="Freeform 3">
              <a:extLst>
                <a:ext uri="{FF2B5EF4-FFF2-40B4-BE49-F238E27FC236}">
                  <a16:creationId xmlns:a16="http://schemas.microsoft.com/office/drawing/2014/main" id="{6861A0B0-ED0A-2C59-D70D-92B85994758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txBody>
            <a:bodyPr/>
            <a:lstStyle/>
            <a:p>
              <a:endParaRPr lang="en-IN" dirty="0"/>
            </a:p>
          </p:txBody>
        </p:sp>
        <p:sp>
          <p:nvSpPr>
            <p:cNvPr id="4" name="TextBox 4">
              <a:extLst>
                <a:ext uri="{FF2B5EF4-FFF2-40B4-BE49-F238E27FC236}">
                  <a16:creationId xmlns:a16="http://schemas.microsoft.com/office/drawing/2014/main" id="{ABA4AFDB-E415-3276-41F8-271952BD82AC}"/>
                </a:ext>
              </a:extLst>
            </p:cNvPr>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sp>
        <p:nvSpPr>
          <p:cNvPr id="9" name="TextBox 9">
            <a:extLst>
              <a:ext uri="{FF2B5EF4-FFF2-40B4-BE49-F238E27FC236}">
                <a16:creationId xmlns:a16="http://schemas.microsoft.com/office/drawing/2014/main" id="{EA346715-C29D-F17C-A0B3-58EA93C70451}"/>
              </a:ext>
            </a:extLst>
          </p:cNvPr>
          <p:cNvSpPr txBox="1"/>
          <p:nvPr/>
        </p:nvSpPr>
        <p:spPr>
          <a:xfrm>
            <a:off x="457200" y="647700"/>
            <a:ext cx="7292856"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DAX MEASURES</a:t>
            </a:r>
          </a:p>
        </p:txBody>
      </p:sp>
      <p:sp>
        <p:nvSpPr>
          <p:cNvPr id="16" name="TextBox 16">
            <a:extLst>
              <a:ext uri="{FF2B5EF4-FFF2-40B4-BE49-F238E27FC236}">
                <a16:creationId xmlns:a16="http://schemas.microsoft.com/office/drawing/2014/main" id="{6380F716-0F61-AB9C-B0BE-968B171AB953}"/>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0F242A9C-B161-084B-7D93-1E2E15815B25}"/>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6" name="TextBox 5">
            <a:extLst>
              <a:ext uri="{FF2B5EF4-FFF2-40B4-BE49-F238E27FC236}">
                <a16:creationId xmlns:a16="http://schemas.microsoft.com/office/drawing/2014/main" id="{3AC53B40-41A4-DBF9-2618-B277D0170F52}"/>
              </a:ext>
            </a:extLst>
          </p:cNvPr>
          <p:cNvSpPr txBox="1"/>
          <p:nvPr/>
        </p:nvSpPr>
        <p:spPr>
          <a:xfrm>
            <a:off x="1028673" y="1749278"/>
            <a:ext cx="15963928" cy="7688259"/>
          </a:xfrm>
          <a:prstGeom prst="rect">
            <a:avLst/>
          </a:prstGeom>
          <a:noFill/>
        </p:spPr>
        <p:txBody>
          <a:bodyPr wrap="square" rtlCol="0">
            <a:spAutoFit/>
          </a:bodyPr>
          <a:lstStyle/>
          <a:p>
            <a:pPr marL="571500" indent="-571500">
              <a:buFont typeface="Arial" panose="020B0604020202020204" pitchFamily="34" charset="0"/>
              <a:buChar char="•"/>
            </a:pPr>
            <a:r>
              <a:rPr lang="en-IN"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Total Revenue</a:t>
            </a:r>
          </a:p>
          <a:p>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Total Revenue = CALCULATE(SUM(</a:t>
            </a:r>
            <a:r>
              <a:rPr lang="en-US" sz="256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Bookings_Dataset</a:t>
            </a: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t>
            </a:r>
            <a:r>
              <a:rPr lang="en-US" sz="256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Total_Amount</a:t>
            </a: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t>
            </a:r>
            <a:r>
              <a:rPr lang="en-US" sz="256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Bookings_Dataset</a:t>
            </a: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[Status] IN {"Completed","</a:t>
            </a:r>
            <a:r>
              <a:rPr lang="en-US" sz="256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NoShow</a:t>
            </a: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t>
            </a:r>
          </a:p>
          <a:p>
            <a:endPar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571500" indent="-571500">
              <a:buFont typeface="Arial" panose="020B0604020202020204" pitchFamily="34" charset="0"/>
              <a:buChar char="•"/>
            </a:pP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Cancelled Bookings</a:t>
            </a:r>
          </a:p>
          <a:p>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Cancelled Booking =    CALCULATE(COUNT(</a:t>
            </a:r>
            <a:r>
              <a:rPr lang="en-US" sz="256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Bookings_Dataset</a:t>
            </a: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t>
            </a:r>
            <a:r>
              <a:rPr lang="en-US" sz="256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Booking_ID</a:t>
            </a:r>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]),Bookings_   Dataset[Status] = "Cancelled")</a:t>
            </a:r>
          </a:p>
          <a:p>
            <a:endPar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571500" indent="-571500">
              <a:buFont typeface="Arial" panose="020B0604020202020204" pitchFamily="34" charset="0"/>
              <a:buChar char="•"/>
            </a:pP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ADR(Average Daily Rate)</a:t>
            </a:r>
          </a:p>
          <a:p>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ADR = DIVIDE([Total Revenue],[Room Nights Sold])</a:t>
            </a:r>
          </a:p>
          <a:p>
            <a:endPar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3600" b="1"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OCCUPANCY RATE %</a:t>
            </a:r>
          </a:p>
          <a:p>
            <a:r>
              <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Occupancy % = DIVIDE([Room Nights Sold],[Total Rooms] * [Total Days]) * 100</a:t>
            </a:r>
          </a:p>
          <a:p>
            <a:endPar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3600" b="1" dirty="0">
                <a:solidFill>
                  <a:schemeClr val="bg1">
                    <a:lumMod val="95000"/>
                  </a:schemeClr>
                </a:solidFill>
                <a:latin typeface="Open Sans "/>
              </a:rPr>
              <a:t>BOOKING COUNT</a:t>
            </a:r>
          </a:p>
          <a:p>
            <a:r>
              <a:rPr lang="en-US" sz="2560" dirty="0">
                <a:solidFill>
                  <a:schemeClr val="bg1">
                    <a:lumMod val="95000"/>
                  </a:schemeClr>
                </a:solidFill>
                <a:latin typeface="Open Sans "/>
              </a:rPr>
              <a:t>Booking Count = COUNT(</a:t>
            </a:r>
            <a:r>
              <a:rPr lang="en-US" sz="2560" dirty="0" err="1">
                <a:solidFill>
                  <a:schemeClr val="bg1">
                    <a:lumMod val="95000"/>
                  </a:schemeClr>
                </a:solidFill>
                <a:latin typeface="Open Sans "/>
              </a:rPr>
              <a:t>Bookings_Dataset</a:t>
            </a:r>
            <a:r>
              <a:rPr lang="en-US" sz="2560" dirty="0">
                <a:solidFill>
                  <a:schemeClr val="bg1">
                    <a:lumMod val="95000"/>
                  </a:schemeClr>
                </a:solidFill>
                <a:latin typeface="Open Sans "/>
              </a:rPr>
              <a:t>[</a:t>
            </a:r>
            <a:r>
              <a:rPr lang="en-US" sz="2560" dirty="0" err="1">
                <a:solidFill>
                  <a:schemeClr val="bg1">
                    <a:lumMod val="95000"/>
                  </a:schemeClr>
                </a:solidFill>
                <a:latin typeface="Open Sans "/>
              </a:rPr>
              <a:t>Booking_ID</a:t>
            </a:r>
            <a:r>
              <a:rPr lang="en-US" sz="2560" dirty="0">
                <a:solidFill>
                  <a:schemeClr val="bg1">
                    <a:lumMod val="95000"/>
                  </a:schemeClr>
                </a:solidFill>
                <a:latin typeface="Open Sans "/>
              </a:rPr>
              <a:t>])</a:t>
            </a:r>
          </a:p>
          <a:p>
            <a:pPr marL="457200" indent="-457200">
              <a:buFont typeface="Arial" panose="020B0604020202020204" pitchFamily="34" charset="0"/>
              <a:buChar char="•"/>
            </a:pPr>
            <a:endParaRPr lang="en-US" sz="256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934552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767C792E-C2D8-9CA1-E198-798FE08F092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3235F4-B960-6081-B9EB-9813438F5ECF}"/>
              </a:ext>
            </a:extLst>
          </p:cNvPr>
          <p:cNvGrpSpPr/>
          <p:nvPr/>
        </p:nvGrpSpPr>
        <p:grpSpPr>
          <a:xfrm>
            <a:off x="0" y="-72330"/>
            <a:ext cx="18288000" cy="10449054"/>
            <a:chOff x="0" y="-19050"/>
            <a:chExt cx="4816593" cy="2752014"/>
          </a:xfrm>
        </p:grpSpPr>
        <p:sp>
          <p:nvSpPr>
            <p:cNvPr id="3" name="Freeform 3">
              <a:extLst>
                <a:ext uri="{FF2B5EF4-FFF2-40B4-BE49-F238E27FC236}">
                  <a16:creationId xmlns:a16="http://schemas.microsoft.com/office/drawing/2014/main" id="{14782D24-9DAA-BE8E-CFF6-E54907C06A32}"/>
                </a:ext>
              </a:extLst>
            </p:cNvPr>
            <p:cNvSpPr/>
            <p:nvPr/>
          </p:nvSpPr>
          <p:spPr>
            <a:xfrm>
              <a:off x="1" y="23631"/>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txBody>
            <a:bodyPr/>
            <a:lstStyle/>
            <a:p>
              <a:r>
                <a:rPr lang="en-IN" dirty="0"/>
                <a:t> </a:t>
              </a:r>
            </a:p>
          </p:txBody>
        </p:sp>
        <p:sp>
          <p:nvSpPr>
            <p:cNvPr id="4" name="TextBox 4">
              <a:extLst>
                <a:ext uri="{FF2B5EF4-FFF2-40B4-BE49-F238E27FC236}">
                  <a16:creationId xmlns:a16="http://schemas.microsoft.com/office/drawing/2014/main" id="{3650F842-BFF8-7321-6927-AC17998D066D}"/>
                </a:ext>
              </a:extLst>
            </p:cNvPr>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sp>
        <p:nvSpPr>
          <p:cNvPr id="8" name="TextBox 8">
            <a:extLst>
              <a:ext uri="{FF2B5EF4-FFF2-40B4-BE49-F238E27FC236}">
                <a16:creationId xmlns:a16="http://schemas.microsoft.com/office/drawing/2014/main" id="{014C2233-85FB-F83F-1A7C-56B55D3A6104}"/>
              </a:ext>
            </a:extLst>
          </p:cNvPr>
          <p:cNvSpPr txBox="1"/>
          <p:nvPr/>
        </p:nvSpPr>
        <p:spPr>
          <a:xfrm>
            <a:off x="17259300" y="9210675"/>
            <a:ext cx="357317" cy="544508"/>
          </a:xfrm>
          <a:prstGeom prst="rect">
            <a:avLst/>
          </a:prstGeom>
        </p:spPr>
        <p:txBody>
          <a:bodyPr lIns="0" tIns="0" rIns="0" bIns="0" rtlCol="0" anchor="t">
            <a:spAutoFit/>
          </a:bodyPr>
          <a:lstStyle/>
          <a:p>
            <a:pPr marL="0" lvl="1" indent="0" algn="l">
              <a:lnSpc>
                <a:spcPts val="2216"/>
              </a:lnSpc>
              <a:spcBef>
                <a:spcPct val="0"/>
              </a:spcBef>
            </a:pPr>
            <a:endParaRPr lang="en-US" sz="1583" dirty="0">
              <a:solidFill>
                <a:srgbClr val="094142"/>
              </a:solidFill>
              <a:latin typeface="Roboto"/>
              <a:ea typeface="Roboto"/>
              <a:cs typeface="Roboto"/>
              <a:sym typeface="Roboto"/>
            </a:endParaRPr>
          </a:p>
          <a:p>
            <a:pPr marL="0" lvl="1" indent="0" algn="l">
              <a:lnSpc>
                <a:spcPts val="2216"/>
              </a:lnSpc>
              <a:spcBef>
                <a:spcPct val="0"/>
              </a:spcBef>
            </a:pPr>
            <a:endParaRPr lang="en-US" sz="1583" dirty="0">
              <a:solidFill>
                <a:srgbClr val="094142"/>
              </a:solidFill>
              <a:latin typeface="Roboto"/>
              <a:ea typeface="Roboto"/>
              <a:cs typeface="Roboto"/>
              <a:sym typeface="Roboto"/>
            </a:endParaRPr>
          </a:p>
        </p:txBody>
      </p:sp>
      <p:sp>
        <p:nvSpPr>
          <p:cNvPr id="9" name="TextBox 9">
            <a:extLst>
              <a:ext uri="{FF2B5EF4-FFF2-40B4-BE49-F238E27FC236}">
                <a16:creationId xmlns:a16="http://schemas.microsoft.com/office/drawing/2014/main" id="{D6DE0B27-F02C-2991-78E3-E5CB357F933E}"/>
              </a:ext>
            </a:extLst>
          </p:cNvPr>
          <p:cNvSpPr txBox="1"/>
          <p:nvPr/>
        </p:nvSpPr>
        <p:spPr>
          <a:xfrm>
            <a:off x="927807" y="725004"/>
            <a:ext cx="16331493" cy="987450"/>
          </a:xfrm>
          <a:prstGeom prst="rect">
            <a:avLst/>
          </a:prstGeom>
        </p:spPr>
        <p:txBody>
          <a:bodyPr wrap="square" lIns="0" tIns="0" rIns="0" bIns="0" rtlCol="0" anchor="t">
            <a:spAutoFit/>
          </a:bodyPr>
          <a:lstStyle/>
          <a:p>
            <a:pPr algn="ctr">
              <a:lnSpc>
                <a:spcPts val="7700"/>
              </a:lnSpc>
            </a:pPr>
            <a:r>
              <a:rPr lang="en-US" sz="4800" b="1" dirty="0">
                <a:solidFill>
                  <a:srgbClr val="FBB111"/>
                </a:solidFill>
                <a:latin typeface="Montserrat Bold"/>
                <a:ea typeface="Montserrat Bold"/>
                <a:cs typeface="Montserrat Bold"/>
                <a:sym typeface="Montserrat Bold"/>
              </a:rPr>
              <a:t>OCCUPANCY AND REVENUE METRICS </a:t>
            </a:r>
          </a:p>
        </p:txBody>
      </p:sp>
      <p:sp>
        <p:nvSpPr>
          <p:cNvPr id="16" name="TextBox 16">
            <a:extLst>
              <a:ext uri="{FF2B5EF4-FFF2-40B4-BE49-F238E27FC236}">
                <a16:creationId xmlns:a16="http://schemas.microsoft.com/office/drawing/2014/main" id="{D6E40BEA-2E02-9D9B-FEED-BE092981175F}"/>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3D8E294E-7307-E775-70AB-7DCA51205AF8}"/>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14" name="TextBox 13">
            <a:extLst>
              <a:ext uri="{FF2B5EF4-FFF2-40B4-BE49-F238E27FC236}">
                <a16:creationId xmlns:a16="http://schemas.microsoft.com/office/drawing/2014/main" id="{2E15F427-5132-8EB0-78D9-8AD6A2C5C2B8}"/>
              </a:ext>
            </a:extLst>
          </p:cNvPr>
          <p:cNvSpPr txBox="1"/>
          <p:nvPr/>
        </p:nvSpPr>
        <p:spPr>
          <a:xfrm>
            <a:off x="10738318" y="2113676"/>
            <a:ext cx="7039511" cy="3416320"/>
          </a:xfrm>
          <a:prstGeom prst="rect">
            <a:avLst/>
          </a:prstGeom>
          <a:noFill/>
        </p:spPr>
        <p:txBody>
          <a:bodyPr wrap="square" rtlCol="0">
            <a:spAutoFit/>
          </a:bodyPr>
          <a:lstStyle/>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Analysis of Occupancy Rate to evaluate operational efficiency</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Monitoring ADR to assess pricing strategy effectiveness</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Evaluation of RevPAR to measure overall revenue performance</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Monthly and seasonal trend analysis for performance tracking</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Comparison across branches and booking channels</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Supports data-driven revenue optimization decisions</a:t>
            </a:r>
          </a:p>
          <a:p>
            <a:pPr marL="285750" indent="-285750">
              <a:buFont typeface="Arial" panose="020B0604020202020204" pitchFamily="34" charset="0"/>
              <a:buChar char="•"/>
            </a:pPr>
            <a:endParaRPr lang="en-IN"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961" y="2202399"/>
            <a:ext cx="10058400" cy="5705687"/>
          </a:xfrm>
          <a:prstGeom prst="rect">
            <a:avLst/>
          </a:prstGeom>
        </p:spPr>
      </p:pic>
      <p:sp>
        <p:nvSpPr>
          <p:cNvPr id="12" name="Cloud 11"/>
          <p:cNvSpPr/>
          <p:nvPr/>
        </p:nvSpPr>
        <p:spPr>
          <a:xfrm>
            <a:off x="11277600" y="5820273"/>
            <a:ext cx="6705600" cy="4116825"/>
          </a:xfrm>
          <a:prstGeom prst="cloud">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lphaLcParenR"/>
            </a:pP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Revenue growth is closely linked to occupancy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levels.</a:t>
            </a:r>
          </a:p>
          <a:p>
            <a:pPr marL="342900" indent="-342900">
              <a:lnSpc>
                <a:spcPct val="150000"/>
              </a:lnSpc>
              <a:buFont typeface="+mj-lt"/>
              <a:buAutoNum type="alphaLcParenR"/>
            </a:pP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Direct </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bookings generate higher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profitability.</a:t>
            </a:r>
          </a:p>
          <a:p>
            <a:pPr marL="342900" indent="-342900">
              <a:lnSpc>
                <a:spcPct val="150000"/>
              </a:lnSpc>
              <a:buFont typeface="+mj-lt"/>
              <a:buAutoNum type="alphaLcParenR"/>
            </a:pP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Seasonal </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trends significantly impact occupancy and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RevPAR.</a:t>
            </a:r>
          </a:p>
        </p:txBody>
      </p:sp>
      <p:sp>
        <p:nvSpPr>
          <p:cNvPr id="13" name="TextBox 12"/>
          <p:cNvSpPr txBox="1"/>
          <p:nvPr/>
        </p:nvSpPr>
        <p:spPr>
          <a:xfrm>
            <a:off x="3505200" y="8185870"/>
            <a:ext cx="1981200" cy="584775"/>
          </a:xfrm>
          <a:prstGeom prst="rect">
            <a:avLst/>
          </a:prstGeom>
          <a:noFill/>
          <a:ln w="38100">
            <a:solidFill>
              <a:srgbClr val="FFFF00"/>
            </a:solidFill>
          </a:ln>
        </p:spPr>
        <p:txBody>
          <a:bodyPr wrap="square" rtlCol="0">
            <a:spAutoFit/>
          </a:bodyPr>
          <a:lstStyle/>
          <a:p>
            <a:r>
              <a:rPr lang="en-US" sz="3200" dirty="0" smtClean="0">
                <a:solidFill>
                  <a:schemeClr val="bg1"/>
                </a:solidFill>
                <a:latin typeface="Berlin Sans FB Demi" panose="020E0802020502020306" pitchFamily="34" charset="0"/>
              </a:rPr>
              <a:t>INSIGHTS</a:t>
            </a:r>
            <a:endParaRPr lang="en-US" sz="3200" dirty="0">
              <a:solidFill>
                <a:schemeClr val="bg1"/>
              </a:solidFill>
              <a:latin typeface="Berlin Sans FB Demi" panose="020E0802020502020306" pitchFamily="34" charset="0"/>
            </a:endParaRPr>
          </a:p>
        </p:txBody>
      </p:sp>
      <p:cxnSp>
        <p:nvCxnSpPr>
          <p:cNvPr id="15" name="Curved Connector 14"/>
          <p:cNvCxnSpPr/>
          <p:nvPr/>
        </p:nvCxnSpPr>
        <p:spPr>
          <a:xfrm>
            <a:off x="5486400" y="8496300"/>
            <a:ext cx="6324600" cy="1073328"/>
          </a:xfrm>
          <a:prstGeom prst="curved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760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B8853B65-EE97-4BDE-43AB-69F5D8353F6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01BFC4-FE13-F50D-A78D-BBF05C48069A}"/>
              </a:ext>
            </a:extLst>
          </p:cNvPr>
          <p:cNvGrpSpPr/>
          <p:nvPr/>
        </p:nvGrpSpPr>
        <p:grpSpPr>
          <a:xfrm>
            <a:off x="0" y="-30139"/>
            <a:ext cx="18288000" cy="10449054"/>
            <a:chOff x="0" y="-19050"/>
            <a:chExt cx="4816593" cy="2752014"/>
          </a:xfrm>
        </p:grpSpPr>
        <p:sp>
          <p:nvSpPr>
            <p:cNvPr id="3" name="Freeform 3">
              <a:extLst>
                <a:ext uri="{FF2B5EF4-FFF2-40B4-BE49-F238E27FC236}">
                  <a16:creationId xmlns:a16="http://schemas.microsoft.com/office/drawing/2014/main" id="{56DE1161-4300-3FC8-5292-53AE8822C082}"/>
                </a:ext>
              </a:extLst>
            </p:cNvPr>
            <p:cNvSpPr/>
            <p:nvPr/>
          </p:nvSpPr>
          <p:spPr>
            <a:xfrm>
              <a:off x="1" y="23631"/>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txBody>
            <a:bodyPr/>
            <a:lstStyle/>
            <a:p>
              <a:r>
                <a:rPr lang="en-IN" dirty="0"/>
                <a:t> </a:t>
              </a:r>
            </a:p>
          </p:txBody>
        </p:sp>
        <p:sp>
          <p:nvSpPr>
            <p:cNvPr id="4" name="TextBox 4">
              <a:extLst>
                <a:ext uri="{FF2B5EF4-FFF2-40B4-BE49-F238E27FC236}">
                  <a16:creationId xmlns:a16="http://schemas.microsoft.com/office/drawing/2014/main" id="{79F99522-A253-5244-AC8D-CB71DA2EE0A7}"/>
                </a:ext>
              </a:extLst>
            </p:cNvPr>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sp>
        <p:nvSpPr>
          <p:cNvPr id="9" name="TextBox 9">
            <a:extLst>
              <a:ext uri="{FF2B5EF4-FFF2-40B4-BE49-F238E27FC236}">
                <a16:creationId xmlns:a16="http://schemas.microsoft.com/office/drawing/2014/main" id="{99033703-1462-5325-5366-730F02DA0880}"/>
              </a:ext>
            </a:extLst>
          </p:cNvPr>
          <p:cNvSpPr txBox="1"/>
          <p:nvPr/>
        </p:nvSpPr>
        <p:spPr>
          <a:xfrm>
            <a:off x="927807" y="725004"/>
            <a:ext cx="16331493" cy="987450"/>
          </a:xfrm>
          <a:prstGeom prst="rect">
            <a:avLst/>
          </a:prstGeom>
        </p:spPr>
        <p:txBody>
          <a:bodyPr wrap="square" lIns="0" tIns="0" rIns="0" bIns="0" rtlCol="0" anchor="t">
            <a:spAutoFit/>
          </a:bodyPr>
          <a:lstStyle/>
          <a:p>
            <a:pPr algn="ctr">
              <a:lnSpc>
                <a:spcPts val="7700"/>
              </a:lnSpc>
            </a:pPr>
            <a:r>
              <a:rPr lang="en-US" sz="4800" b="1" dirty="0">
                <a:solidFill>
                  <a:srgbClr val="FBB111"/>
                </a:solidFill>
                <a:latin typeface="Montserrat Bold"/>
                <a:ea typeface="Montserrat Bold"/>
                <a:cs typeface="Montserrat Bold"/>
                <a:sym typeface="Montserrat Bold"/>
              </a:rPr>
              <a:t>GUEST ANALYSIS </a:t>
            </a:r>
          </a:p>
        </p:txBody>
      </p:sp>
      <p:sp>
        <p:nvSpPr>
          <p:cNvPr id="16" name="TextBox 16">
            <a:extLst>
              <a:ext uri="{FF2B5EF4-FFF2-40B4-BE49-F238E27FC236}">
                <a16:creationId xmlns:a16="http://schemas.microsoft.com/office/drawing/2014/main" id="{F484BA21-338A-F06B-6107-B44407955CF5}"/>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11C6E720-510C-B7EC-D6E0-7BE459BFBE8E}"/>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14" name="TextBox 13">
            <a:extLst>
              <a:ext uri="{FF2B5EF4-FFF2-40B4-BE49-F238E27FC236}">
                <a16:creationId xmlns:a16="http://schemas.microsoft.com/office/drawing/2014/main" id="{52E4219B-7881-2032-71B8-7A45AB7736C6}"/>
              </a:ext>
            </a:extLst>
          </p:cNvPr>
          <p:cNvSpPr txBox="1"/>
          <p:nvPr/>
        </p:nvSpPr>
        <p:spPr>
          <a:xfrm>
            <a:off x="10765533" y="2251173"/>
            <a:ext cx="7018175" cy="3416320"/>
          </a:xfrm>
          <a:prstGeom prst="rect">
            <a:avLst/>
          </a:prstGeom>
          <a:noFill/>
        </p:spPr>
        <p:txBody>
          <a:bodyPr wrap="square" rtlCol="0">
            <a:spAutoFit/>
          </a:bodyPr>
          <a:lstStyle/>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Examination of guest type distribution (Business and Leisure)</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Analysis of stay purpose and booking behavior</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Evaluation of nationality-based revenue contribution</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Study of booking channel preferences</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Assessment of average stay duration</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Identification of high-value and repeat customers</a:t>
            </a:r>
          </a:p>
          <a:p>
            <a:endParaRPr lang="en-IN"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Cloud 10"/>
          <p:cNvSpPr/>
          <p:nvPr/>
        </p:nvSpPr>
        <p:spPr>
          <a:xfrm>
            <a:off x="10515600" y="6206212"/>
            <a:ext cx="7391400" cy="3966488"/>
          </a:xfrm>
          <a:prstGeom prst="cloud">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lphaLcParenR"/>
            </a:pP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Loyal guests contribute the highest revenue and form the largest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segment.</a:t>
            </a:r>
          </a:p>
          <a:p>
            <a:pPr marL="342900" indent="-342900">
              <a:lnSpc>
                <a:spcPct val="150000"/>
              </a:lnSpc>
              <a:buFont typeface="+mj-lt"/>
              <a:buAutoNum type="alphaLcParenR"/>
            </a:pP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Direct </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and OTA channels are preferred across Business and Leisure bookings</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t>
            </a:r>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342900" indent="-342900">
              <a:lnSpc>
                <a:spcPct val="150000"/>
              </a:lnSpc>
              <a:buFont typeface="+mj-lt"/>
              <a:buAutoNum type="alphaLcParenR"/>
            </a:pP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Occupancy </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and ADR together drive strong RevPAR performance.</a:t>
            </a:r>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p:cNvSpPr txBox="1"/>
          <p:nvPr/>
        </p:nvSpPr>
        <p:spPr>
          <a:xfrm>
            <a:off x="3505200" y="8185870"/>
            <a:ext cx="1981200" cy="584775"/>
          </a:xfrm>
          <a:prstGeom prst="rect">
            <a:avLst/>
          </a:prstGeom>
          <a:noFill/>
          <a:ln w="38100">
            <a:solidFill>
              <a:srgbClr val="FFFF00"/>
            </a:solidFill>
          </a:ln>
        </p:spPr>
        <p:txBody>
          <a:bodyPr wrap="square" rtlCol="0">
            <a:spAutoFit/>
          </a:bodyPr>
          <a:lstStyle/>
          <a:p>
            <a:r>
              <a:rPr lang="en-US" sz="3200" dirty="0" smtClean="0">
                <a:solidFill>
                  <a:schemeClr val="bg1"/>
                </a:solidFill>
                <a:latin typeface="Berlin Sans FB Demi" panose="020E0802020502020306" pitchFamily="34" charset="0"/>
              </a:rPr>
              <a:t>INSIGHTS</a:t>
            </a:r>
            <a:endParaRPr lang="en-US" sz="3200" dirty="0">
              <a:solidFill>
                <a:schemeClr val="bg1"/>
              </a:solidFill>
              <a:latin typeface="Berlin Sans FB Demi" panose="020E0802020502020306" pitchFamily="34" charset="0"/>
            </a:endParaRPr>
          </a:p>
        </p:txBody>
      </p:sp>
      <p:cxnSp>
        <p:nvCxnSpPr>
          <p:cNvPr id="13" name="Curved Connector 12"/>
          <p:cNvCxnSpPr/>
          <p:nvPr/>
        </p:nvCxnSpPr>
        <p:spPr>
          <a:xfrm>
            <a:off x="5486400" y="8496300"/>
            <a:ext cx="5943600" cy="1084842"/>
          </a:xfrm>
          <a:prstGeom prst="curved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8" y="1974547"/>
            <a:ext cx="10058400" cy="5638800"/>
          </a:xfrm>
          <a:prstGeom prst="rect">
            <a:avLst/>
          </a:prstGeom>
        </p:spPr>
      </p:pic>
    </p:spTree>
    <p:extLst>
      <p:ext uri="{BB962C8B-B14F-4D97-AF65-F5344CB8AC3E}">
        <p14:creationId xmlns:p14="http://schemas.microsoft.com/office/powerpoint/2010/main" val="15590769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8EC3C791-B18E-7C3D-4924-FE814DEE481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B4B31EA-C63E-EAC6-1A52-810AFDB7191B}"/>
              </a:ext>
            </a:extLst>
          </p:cNvPr>
          <p:cNvGrpSpPr/>
          <p:nvPr/>
        </p:nvGrpSpPr>
        <p:grpSpPr>
          <a:xfrm>
            <a:off x="0" y="-34688"/>
            <a:ext cx="18288000" cy="10449054"/>
            <a:chOff x="0" y="-19050"/>
            <a:chExt cx="4816593" cy="2752014"/>
          </a:xfrm>
        </p:grpSpPr>
        <p:sp>
          <p:nvSpPr>
            <p:cNvPr id="3" name="Freeform 3">
              <a:extLst>
                <a:ext uri="{FF2B5EF4-FFF2-40B4-BE49-F238E27FC236}">
                  <a16:creationId xmlns:a16="http://schemas.microsoft.com/office/drawing/2014/main" id="{8E8E56A2-F021-6FAE-B4E1-7D086BA46796}"/>
                </a:ext>
              </a:extLst>
            </p:cNvPr>
            <p:cNvSpPr/>
            <p:nvPr/>
          </p:nvSpPr>
          <p:spPr>
            <a:xfrm>
              <a:off x="1" y="23631"/>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265959"/>
            </a:solidFill>
          </p:spPr>
          <p:txBody>
            <a:bodyPr/>
            <a:lstStyle/>
            <a:p>
              <a:r>
                <a:rPr lang="en-IN" dirty="0"/>
                <a:t> </a:t>
              </a:r>
            </a:p>
          </p:txBody>
        </p:sp>
        <p:sp>
          <p:nvSpPr>
            <p:cNvPr id="4" name="TextBox 4">
              <a:extLst>
                <a:ext uri="{FF2B5EF4-FFF2-40B4-BE49-F238E27FC236}">
                  <a16:creationId xmlns:a16="http://schemas.microsoft.com/office/drawing/2014/main" id="{EC37C8D3-1E7C-54A8-33A5-5B32639014B3}"/>
                </a:ext>
              </a:extLst>
            </p:cNvPr>
            <p:cNvSpPr txBox="1"/>
            <p:nvPr/>
          </p:nvSpPr>
          <p:spPr>
            <a:xfrm>
              <a:off x="0" y="-19050"/>
              <a:ext cx="4816593" cy="2728383"/>
            </a:xfrm>
            <a:prstGeom prst="rect">
              <a:avLst/>
            </a:prstGeom>
          </p:spPr>
          <p:txBody>
            <a:bodyPr lIns="50800" tIns="50800" rIns="50800" bIns="50800" rtlCol="0" anchor="ctr"/>
            <a:lstStyle/>
            <a:p>
              <a:pPr algn="ctr">
                <a:lnSpc>
                  <a:spcPts val="1874"/>
                </a:lnSpc>
              </a:pPr>
              <a:endParaRPr/>
            </a:p>
          </p:txBody>
        </p:sp>
      </p:grpSp>
      <p:sp>
        <p:nvSpPr>
          <p:cNvPr id="9" name="TextBox 9">
            <a:extLst>
              <a:ext uri="{FF2B5EF4-FFF2-40B4-BE49-F238E27FC236}">
                <a16:creationId xmlns:a16="http://schemas.microsoft.com/office/drawing/2014/main" id="{20C3BB18-465A-C824-1700-5273FF900EE1}"/>
              </a:ext>
            </a:extLst>
          </p:cNvPr>
          <p:cNvSpPr txBox="1"/>
          <p:nvPr/>
        </p:nvSpPr>
        <p:spPr>
          <a:xfrm>
            <a:off x="395418" y="624749"/>
            <a:ext cx="17221199" cy="987450"/>
          </a:xfrm>
          <a:prstGeom prst="rect">
            <a:avLst/>
          </a:prstGeom>
        </p:spPr>
        <p:txBody>
          <a:bodyPr wrap="square" lIns="0" tIns="0" rIns="0" bIns="0" rtlCol="0" anchor="t">
            <a:spAutoFit/>
          </a:bodyPr>
          <a:lstStyle/>
          <a:p>
            <a:pPr algn="ctr">
              <a:lnSpc>
                <a:spcPts val="7700"/>
              </a:lnSpc>
            </a:pPr>
            <a:r>
              <a:rPr lang="en-US" sz="4800" b="1" dirty="0">
                <a:solidFill>
                  <a:srgbClr val="FBB111"/>
                </a:solidFill>
                <a:latin typeface="Montserrat Bold"/>
                <a:ea typeface="Montserrat Bold"/>
                <a:cs typeface="Montserrat Bold"/>
                <a:sym typeface="Montserrat Bold"/>
              </a:rPr>
              <a:t>FORECASTING AND CANCELLATION TRENDS </a:t>
            </a:r>
          </a:p>
        </p:txBody>
      </p:sp>
      <p:sp>
        <p:nvSpPr>
          <p:cNvPr id="16" name="TextBox 16">
            <a:extLst>
              <a:ext uri="{FF2B5EF4-FFF2-40B4-BE49-F238E27FC236}">
                <a16:creationId xmlns:a16="http://schemas.microsoft.com/office/drawing/2014/main" id="{37C47E39-F78E-6EC6-5BE8-0FAEB2BF41CE}"/>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71388B7E-E599-3841-0E35-8A48F2A9BD9B}"/>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12" name="TextBox 11">
            <a:extLst>
              <a:ext uri="{FF2B5EF4-FFF2-40B4-BE49-F238E27FC236}">
                <a16:creationId xmlns:a16="http://schemas.microsoft.com/office/drawing/2014/main" id="{ECFC8F94-8E96-195A-9A27-FF448C917F88}"/>
              </a:ext>
            </a:extLst>
          </p:cNvPr>
          <p:cNvSpPr txBox="1"/>
          <p:nvPr/>
        </p:nvSpPr>
        <p:spPr>
          <a:xfrm>
            <a:off x="10765533" y="2075740"/>
            <a:ext cx="6489779" cy="3416320"/>
          </a:xfrm>
          <a:prstGeom prst="rect">
            <a:avLst/>
          </a:prstGeom>
          <a:noFill/>
        </p:spPr>
        <p:txBody>
          <a:bodyPr wrap="square" rtlCol="0">
            <a:spAutoFit/>
          </a:bodyPr>
          <a:lstStyle/>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Monitoring cancellation rate and booking reliability</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Analysis of revenue loss due to cancellations</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Identification of seasonal cancellation patterns</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Evaluation of channel-based cancellation risks</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Study of booking status distribution</a:t>
            </a:r>
          </a:p>
          <a:p>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Supports proactive revenue risk management</a:t>
            </a:r>
          </a:p>
          <a:p>
            <a:pPr marL="457200" indent="-457200">
              <a:buFont typeface="Arial" panose="020B0604020202020204" pitchFamily="34" charset="0"/>
              <a:buChar char="•"/>
            </a:pPr>
            <a:endParaRPr lang="en-IN"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82" y="1888245"/>
            <a:ext cx="10058400" cy="5688894"/>
          </a:xfrm>
          <a:prstGeom prst="rect">
            <a:avLst/>
          </a:prstGeom>
        </p:spPr>
      </p:pic>
      <p:sp>
        <p:nvSpPr>
          <p:cNvPr id="11" name="Cloud 10"/>
          <p:cNvSpPr/>
          <p:nvPr/>
        </p:nvSpPr>
        <p:spPr>
          <a:xfrm>
            <a:off x="10972796" y="6362700"/>
            <a:ext cx="6477004" cy="3574398"/>
          </a:xfrm>
          <a:prstGeom prst="cloud">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lphaLcParenR"/>
            </a:pP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Cancellation rate remains high, affecting occupancy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stability.</a:t>
            </a:r>
          </a:p>
          <a:p>
            <a:pPr marL="342900" indent="-342900">
              <a:lnSpc>
                <a:spcPct val="150000"/>
              </a:lnSpc>
              <a:buFont typeface="+mj-lt"/>
              <a:buAutoNum type="alphaLcParenR"/>
            </a:pP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Revenue </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loss due to cancellations is consistent across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months.</a:t>
            </a:r>
          </a:p>
          <a:p>
            <a:pPr marL="342900" indent="-342900">
              <a:lnSpc>
                <a:spcPct val="150000"/>
              </a:lnSpc>
              <a:buFont typeface="+mj-lt"/>
              <a:buAutoNum type="alphaLcParenR"/>
            </a:pP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Peak </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season shows higher cancellation </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volume.</a:t>
            </a:r>
          </a:p>
        </p:txBody>
      </p:sp>
      <p:sp>
        <p:nvSpPr>
          <p:cNvPr id="13" name="TextBox 12"/>
          <p:cNvSpPr txBox="1"/>
          <p:nvPr/>
        </p:nvSpPr>
        <p:spPr>
          <a:xfrm>
            <a:off x="3505200" y="8185870"/>
            <a:ext cx="1981200" cy="584775"/>
          </a:xfrm>
          <a:prstGeom prst="rect">
            <a:avLst/>
          </a:prstGeom>
          <a:noFill/>
          <a:ln w="38100">
            <a:solidFill>
              <a:srgbClr val="FFFF00"/>
            </a:solidFill>
          </a:ln>
        </p:spPr>
        <p:txBody>
          <a:bodyPr wrap="square" rtlCol="0">
            <a:spAutoFit/>
          </a:bodyPr>
          <a:lstStyle/>
          <a:p>
            <a:r>
              <a:rPr lang="en-US" sz="3200" dirty="0" smtClean="0">
                <a:solidFill>
                  <a:schemeClr val="bg1"/>
                </a:solidFill>
                <a:latin typeface="Berlin Sans FB Demi" panose="020E0802020502020306" pitchFamily="34" charset="0"/>
              </a:rPr>
              <a:t>INSIGHTS</a:t>
            </a:r>
            <a:endParaRPr lang="en-US" sz="3200" dirty="0">
              <a:solidFill>
                <a:schemeClr val="bg1"/>
              </a:solidFill>
              <a:latin typeface="Berlin Sans FB Demi" panose="020E0802020502020306" pitchFamily="34" charset="0"/>
            </a:endParaRPr>
          </a:p>
        </p:txBody>
      </p:sp>
      <p:cxnSp>
        <p:nvCxnSpPr>
          <p:cNvPr id="14" name="Curved Connector 13"/>
          <p:cNvCxnSpPr/>
          <p:nvPr/>
        </p:nvCxnSpPr>
        <p:spPr>
          <a:xfrm>
            <a:off x="5486400" y="8496300"/>
            <a:ext cx="5943600" cy="1084842"/>
          </a:xfrm>
          <a:prstGeom prst="curved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9473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A0022739-DAFE-090C-10C0-7371F3AA8588}"/>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D2E70624-2BD4-D7A2-802D-3EBA2D10A942}"/>
              </a:ext>
            </a:extLst>
          </p:cNvPr>
          <p:cNvSpPr txBox="1"/>
          <p:nvPr/>
        </p:nvSpPr>
        <p:spPr>
          <a:xfrm>
            <a:off x="0" y="-72330"/>
            <a:ext cx="18288000" cy="10359330"/>
          </a:xfrm>
          <a:prstGeom prst="rect">
            <a:avLst/>
          </a:prstGeom>
        </p:spPr>
        <p:txBody>
          <a:bodyPr lIns="50800" tIns="50800" rIns="50800" bIns="50800" rtlCol="0" anchor="ctr"/>
          <a:lstStyle/>
          <a:p>
            <a:pPr algn="ctr">
              <a:lnSpc>
                <a:spcPts val="1874"/>
              </a:lnSpc>
            </a:pPr>
            <a:endParaRPr/>
          </a:p>
        </p:txBody>
      </p:sp>
      <p:sp>
        <p:nvSpPr>
          <p:cNvPr id="9" name="TextBox 9">
            <a:extLst>
              <a:ext uri="{FF2B5EF4-FFF2-40B4-BE49-F238E27FC236}">
                <a16:creationId xmlns:a16="http://schemas.microsoft.com/office/drawing/2014/main" id="{E160E3B0-B707-35EE-7AEF-94245F67CD40}"/>
              </a:ext>
            </a:extLst>
          </p:cNvPr>
          <p:cNvSpPr txBox="1"/>
          <p:nvPr/>
        </p:nvSpPr>
        <p:spPr>
          <a:xfrm>
            <a:off x="395418" y="624749"/>
            <a:ext cx="17221199" cy="987450"/>
          </a:xfrm>
          <a:prstGeom prst="rect">
            <a:avLst/>
          </a:prstGeom>
        </p:spPr>
        <p:txBody>
          <a:bodyPr wrap="square" lIns="0" tIns="0" rIns="0" bIns="0" rtlCol="0" anchor="t">
            <a:spAutoFit/>
          </a:bodyPr>
          <a:lstStyle/>
          <a:p>
            <a:pPr algn="ctr">
              <a:lnSpc>
                <a:spcPts val="7700"/>
              </a:lnSpc>
            </a:pPr>
            <a:r>
              <a:rPr lang="en-US" sz="4800" b="1" dirty="0">
                <a:solidFill>
                  <a:srgbClr val="FBB111"/>
                </a:solidFill>
                <a:latin typeface="Montserrat Bold"/>
                <a:ea typeface="Montserrat Bold"/>
                <a:cs typeface="Montserrat Bold"/>
                <a:sym typeface="Montserrat Bold"/>
              </a:rPr>
              <a:t>REVENUE STRATEGY DASHBOARD</a:t>
            </a:r>
          </a:p>
        </p:txBody>
      </p:sp>
      <p:sp>
        <p:nvSpPr>
          <p:cNvPr id="16" name="TextBox 16">
            <a:extLst>
              <a:ext uri="{FF2B5EF4-FFF2-40B4-BE49-F238E27FC236}">
                <a16:creationId xmlns:a16="http://schemas.microsoft.com/office/drawing/2014/main" id="{BCB5C55E-2608-B11D-D9A6-50BCB38A74A1}"/>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96EFAF19-2D3A-B7B8-A85D-B79FCD242BED}"/>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13" name="TextBox 12">
            <a:extLst>
              <a:ext uri="{FF2B5EF4-FFF2-40B4-BE49-F238E27FC236}">
                <a16:creationId xmlns:a16="http://schemas.microsoft.com/office/drawing/2014/main" id="{B63E6396-1DE3-16B0-8039-7F74ABAC4A69}"/>
              </a:ext>
            </a:extLst>
          </p:cNvPr>
          <p:cNvSpPr txBox="1"/>
          <p:nvPr/>
        </p:nvSpPr>
        <p:spPr>
          <a:xfrm>
            <a:off x="11734801" y="2933700"/>
            <a:ext cx="4450077" cy="369332"/>
          </a:xfrm>
          <a:prstGeom prst="rect">
            <a:avLst/>
          </a:prstGeom>
          <a:noFill/>
        </p:spPr>
        <p:txBody>
          <a:bodyPr wrap="square" rtlCol="0">
            <a:spAutoFit/>
          </a:bodyPr>
          <a:lstStyle/>
          <a:p>
            <a:endParaRPr lang="en-IN" dirty="0"/>
          </a:p>
        </p:txBody>
      </p:sp>
      <p:sp>
        <p:nvSpPr>
          <p:cNvPr id="14" name="TextBox 13">
            <a:extLst>
              <a:ext uri="{FF2B5EF4-FFF2-40B4-BE49-F238E27FC236}">
                <a16:creationId xmlns:a16="http://schemas.microsoft.com/office/drawing/2014/main" id="{75195E5E-BB9F-EC9F-93F4-0B72214D4525}"/>
              </a:ext>
            </a:extLst>
          </p:cNvPr>
          <p:cNvSpPr txBox="1"/>
          <p:nvPr/>
        </p:nvSpPr>
        <p:spPr>
          <a:xfrm>
            <a:off x="10765533" y="2201212"/>
            <a:ext cx="6745948" cy="3139321"/>
          </a:xfrm>
          <a:prstGeom prst="rect">
            <a:avLst/>
          </a:prstGeom>
          <a:noFill/>
        </p:spPr>
        <p:txBody>
          <a:bodyPr wrap="square" rtlCol="0">
            <a:spAutoFit/>
          </a:bodyPr>
          <a:lstStyle/>
          <a:p>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Consolidated view of total revenue performance</a:t>
            </a:r>
          </a:p>
          <a:p>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Comparison of ADR and RevPAR for pricing insights</a:t>
            </a:r>
          </a:p>
          <a:p>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Seasonal and geographic revenue distribution analysis</a:t>
            </a:r>
          </a:p>
          <a:p>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Evaluation of room category contribution</a:t>
            </a:r>
          </a:p>
          <a:p>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Booking channel performance assessment</a:t>
            </a:r>
          </a:p>
          <a:p>
            <a:endPar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Enables strategic planning and decision-making</a:t>
            </a:r>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Cloud 29"/>
          <p:cNvSpPr/>
          <p:nvPr/>
        </p:nvSpPr>
        <p:spPr>
          <a:xfrm>
            <a:off x="10515600" y="6261057"/>
            <a:ext cx="7315200" cy="3662394"/>
          </a:xfrm>
          <a:prstGeom prst="cloud">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pPr marL="342900" indent="-342900">
              <a:lnSpc>
                <a:spcPct val="150000"/>
              </a:lnSpc>
              <a:buFont typeface="+mj-lt"/>
              <a:buAutoNum type="alphaLcParenR"/>
            </a:pP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Higher ADR positively impacts total revenue.</a:t>
            </a:r>
          </a:p>
          <a:p>
            <a:pPr marL="342900" indent="-342900">
              <a:lnSpc>
                <a:spcPct val="150000"/>
              </a:lnSpc>
              <a:buFont typeface="+mj-lt"/>
              <a:buAutoNum type="alphaLcParenR"/>
            </a:pP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Peak season and premium rooms generate maximum revenue.</a:t>
            </a:r>
          </a:p>
          <a:p>
            <a:pPr marL="342900" indent="-342900">
              <a:lnSpc>
                <a:spcPct val="150000"/>
              </a:lnSpc>
              <a:buFont typeface="+mj-lt"/>
              <a:buAutoNum type="alphaLcParenR"/>
            </a:pP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Long-stay bookings contribute significantly to profitability</a:t>
            </a:r>
            <a:r>
              <a:rPr lang="en-US" dirty="0" smtClean="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t>
            </a:r>
            <a:endPar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2" name="Curved Connector 31"/>
          <p:cNvCxnSpPr/>
          <p:nvPr/>
        </p:nvCxnSpPr>
        <p:spPr>
          <a:xfrm>
            <a:off x="5486400" y="8496300"/>
            <a:ext cx="5943600" cy="1084842"/>
          </a:xfrm>
          <a:prstGeom prst="curved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3505200" y="8185870"/>
            <a:ext cx="1981200" cy="584775"/>
          </a:xfrm>
          <a:prstGeom prst="rect">
            <a:avLst/>
          </a:prstGeom>
          <a:noFill/>
          <a:ln w="38100">
            <a:solidFill>
              <a:srgbClr val="FFFF00"/>
            </a:solidFill>
          </a:ln>
        </p:spPr>
        <p:txBody>
          <a:bodyPr wrap="square" rtlCol="0">
            <a:spAutoFit/>
          </a:bodyPr>
          <a:lstStyle/>
          <a:p>
            <a:r>
              <a:rPr lang="en-US" sz="3200" dirty="0" smtClean="0">
                <a:solidFill>
                  <a:schemeClr val="bg1"/>
                </a:solidFill>
                <a:latin typeface="Berlin Sans FB Demi" panose="020E0802020502020306" pitchFamily="34" charset="0"/>
              </a:rPr>
              <a:t>INSIGHTS</a:t>
            </a:r>
            <a:endParaRPr lang="en-US" sz="3200" dirty="0">
              <a:solidFill>
                <a:schemeClr val="bg1"/>
              </a:solidFill>
              <a:latin typeface="Berlin Sans FB Demi" panose="020E0802020502020306"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798" y="1844071"/>
            <a:ext cx="10058400" cy="5625366"/>
          </a:xfrm>
          <a:prstGeom prst="rect">
            <a:avLst/>
          </a:prstGeom>
        </p:spPr>
      </p:pic>
    </p:spTree>
    <p:extLst>
      <p:ext uri="{BB962C8B-B14F-4D97-AF65-F5344CB8AC3E}">
        <p14:creationId xmlns:p14="http://schemas.microsoft.com/office/powerpoint/2010/main" val="26430199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27181C15-64C9-D5CC-2018-A2B4B2885D02}"/>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5D3351B8-1461-D3B4-FC35-323C3EC76B0C}"/>
              </a:ext>
            </a:extLst>
          </p:cNvPr>
          <p:cNvSpPr txBox="1"/>
          <p:nvPr/>
        </p:nvSpPr>
        <p:spPr>
          <a:xfrm>
            <a:off x="228600" y="620404"/>
            <a:ext cx="6272630" cy="914866"/>
          </a:xfrm>
          <a:prstGeom prst="rect">
            <a:avLst/>
          </a:prstGeom>
        </p:spPr>
        <p:txBody>
          <a:bodyPr wrap="square" lIns="0" tIns="0" rIns="0" bIns="0" rtlCol="0" anchor="t">
            <a:spAutoFit/>
          </a:bodyPr>
          <a:lstStyle/>
          <a:p>
            <a:pPr algn="ctr">
              <a:lnSpc>
                <a:spcPts val="7700"/>
              </a:lnSpc>
            </a:pPr>
            <a:r>
              <a:rPr lang="en-US" sz="5500" b="1" dirty="0">
                <a:solidFill>
                  <a:srgbClr val="FBB111"/>
                </a:solidFill>
                <a:latin typeface="Montserrat Bold"/>
                <a:ea typeface="Montserrat Bold"/>
                <a:cs typeface="Montserrat Bold"/>
                <a:sym typeface="Montserrat Bold"/>
              </a:rPr>
              <a:t>CONCLUSION</a:t>
            </a:r>
          </a:p>
        </p:txBody>
      </p:sp>
      <p:sp>
        <p:nvSpPr>
          <p:cNvPr id="16" name="TextBox 16">
            <a:extLst>
              <a:ext uri="{FF2B5EF4-FFF2-40B4-BE49-F238E27FC236}">
                <a16:creationId xmlns:a16="http://schemas.microsoft.com/office/drawing/2014/main" id="{A9F139C4-D3D3-7922-B5FB-7801499B68E4}"/>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04C8D531-23D2-6995-559E-F1E4F02875C1}"/>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5" name="TextBox 4">
            <a:extLst>
              <a:ext uri="{FF2B5EF4-FFF2-40B4-BE49-F238E27FC236}">
                <a16:creationId xmlns:a16="http://schemas.microsoft.com/office/drawing/2014/main" id="{72BBCD33-2B1F-8379-ECB9-A121DE28CC55}"/>
              </a:ext>
            </a:extLst>
          </p:cNvPr>
          <p:cNvSpPr txBox="1"/>
          <p:nvPr/>
        </p:nvSpPr>
        <p:spPr>
          <a:xfrm>
            <a:off x="947544" y="1814130"/>
            <a:ext cx="15659100" cy="3970318"/>
          </a:xfrm>
          <a:prstGeom prst="rect">
            <a:avLst/>
          </a:prstGeom>
          <a:noFill/>
        </p:spPr>
        <p:txBody>
          <a:bodyPr wrap="square" rtlCol="0">
            <a:spAutoFit/>
          </a:bodyPr>
          <a:lstStyle/>
          <a:p>
            <a:pPr algn="just"/>
            <a:r>
              <a:rPr lang="en-US" sz="2800" dirty="0">
                <a:solidFill>
                  <a:schemeClr val="bg1">
                    <a:lumMod val="95000"/>
                  </a:schemeClr>
                </a:solidFill>
              </a:rPr>
              <a:t>From this project were able to clearly analyze the overall hotel revenue performance and identify key business insights. Through this dashboard, we understood occupancy trends, pricing effectiveness using ADR and RevPAR, and the impact of cancellations on revenue. We also identified high-performing booking channels, seasonal revenue patterns, and valuable customer segments contributing the most to profitability. The analysis helped highlight areas where revenue leakage occurs and where pricing strategies can be improved. Overall, this dashboard provides a clear, data-driven foundation for strategic decision-making, helping hotel management optimize revenue, reduce losses, and improve operational efficiency.</a:t>
            </a:r>
          </a:p>
          <a:p>
            <a:pPr algn="just"/>
            <a:endParaRPr lang="en-US" sz="2800" dirty="0">
              <a:solidFill>
                <a:schemeClr val="bg1">
                  <a:lumMod val="95000"/>
                </a:schemeClr>
              </a:solidFill>
            </a:endParaRPr>
          </a:p>
          <a:p>
            <a:pPr algn="just"/>
            <a:endParaRPr lang="en-US" sz="2800" dirty="0">
              <a:solidFill>
                <a:schemeClr val="bg1">
                  <a:lumMod val="95000"/>
                </a:schemeClr>
              </a:solidFill>
              <a:latin typeface="Open Sans "/>
            </a:endParaRPr>
          </a:p>
        </p:txBody>
      </p:sp>
      <p:sp>
        <p:nvSpPr>
          <p:cNvPr id="11" name="TextBox 10">
            <a:extLst>
              <a:ext uri="{FF2B5EF4-FFF2-40B4-BE49-F238E27FC236}">
                <a16:creationId xmlns:a16="http://schemas.microsoft.com/office/drawing/2014/main" id="{A65F8CB3-766E-5D6C-A035-B94D1139E781}"/>
              </a:ext>
            </a:extLst>
          </p:cNvPr>
          <p:cNvSpPr txBox="1"/>
          <p:nvPr/>
        </p:nvSpPr>
        <p:spPr>
          <a:xfrm>
            <a:off x="457200" y="5385676"/>
            <a:ext cx="10744200" cy="1007199"/>
          </a:xfrm>
          <a:prstGeom prst="rect">
            <a:avLst/>
          </a:prstGeom>
          <a:noFill/>
        </p:spPr>
        <p:txBody>
          <a:bodyPr wrap="square">
            <a:spAutoFit/>
          </a:bodyPr>
          <a:lstStyle/>
          <a:p>
            <a:pPr algn="ctr">
              <a:lnSpc>
                <a:spcPts val="7700"/>
              </a:lnSpc>
            </a:pPr>
            <a:r>
              <a:rPr lang="en-US" sz="5500" b="1" dirty="0">
                <a:solidFill>
                  <a:srgbClr val="FBB111"/>
                </a:solidFill>
                <a:latin typeface="Montserrat Bold"/>
                <a:ea typeface="Montserrat Bold"/>
                <a:cs typeface="Montserrat Bold"/>
                <a:sym typeface="Montserrat Bold"/>
              </a:rPr>
              <a:t>FUTURE ENCHANCEMENTS</a:t>
            </a:r>
          </a:p>
        </p:txBody>
      </p:sp>
      <p:sp>
        <p:nvSpPr>
          <p:cNvPr id="12" name="TextBox 11">
            <a:extLst>
              <a:ext uri="{FF2B5EF4-FFF2-40B4-BE49-F238E27FC236}">
                <a16:creationId xmlns:a16="http://schemas.microsoft.com/office/drawing/2014/main" id="{304D35B5-5F01-89D4-1CD0-BC2B511CB742}"/>
              </a:ext>
            </a:extLst>
          </p:cNvPr>
          <p:cNvSpPr txBox="1"/>
          <p:nvPr/>
        </p:nvSpPr>
        <p:spPr>
          <a:xfrm>
            <a:off x="914887" y="6656988"/>
            <a:ext cx="15464131" cy="181588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solidFill>
                  <a:schemeClr val="bg1">
                    <a:lumMod val="95000"/>
                  </a:schemeClr>
                </a:solidFill>
                <a:latin typeface="Open Sans "/>
              </a:rPr>
              <a:t>Implement AI-based revenue and occupancy forecasting</a:t>
            </a:r>
          </a:p>
          <a:p>
            <a:pPr marL="457200" indent="-457200" algn="just">
              <a:buFont typeface="Arial" panose="020B0604020202020204" pitchFamily="34" charset="0"/>
              <a:buChar char="•"/>
            </a:pPr>
            <a:r>
              <a:rPr lang="en-US" sz="2800" dirty="0">
                <a:solidFill>
                  <a:schemeClr val="bg1">
                    <a:lumMod val="95000"/>
                  </a:schemeClr>
                </a:solidFill>
                <a:latin typeface="Open Sans "/>
              </a:rPr>
              <a:t>Develop dynamic pricing recommendation system</a:t>
            </a:r>
          </a:p>
          <a:p>
            <a:pPr marL="457200" indent="-457200" algn="just">
              <a:buFont typeface="Arial" panose="020B0604020202020204" pitchFamily="34" charset="0"/>
              <a:buChar char="•"/>
            </a:pPr>
            <a:r>
              <a:rPr lang="en-US" sz="2800" dirty="0">
                <a:solidFill>
                  <a:schemeClr val="bg1">
                    <a:lumMod val="95000"/>
                  </a:schemeClr>
                </a:solidFill>
                <a:latin typeface="Open Sans "/>
              </a:rPr>
              <a:t>Integrate real-time booking data from live systems</a:t>
            </a:r>
          </a:p>
          <a:p>
            <a:pPr marL="457200" indent="-457200" algn="just">
              <a:buFont typeface="Arial" panose="020B0604020202020204" pitchFamily="34" charset="0"/>
              <a:buChar char="•"/>
            </a:pPr>
            <a:r>
              <a:rPr lang="en-US" sz="2800" dirty="0">
                <a:solidFill>
                  <a:schemeClr val="bg1">
                    <a:lumMod val="95000"/>
                  </a:schemeClr>
                </a:solidFill>
                <a:latin typeface="Open Sans "/>
              </a:rPr>
              <a:t>Add advanced customer segmentation and loyalty analysis</a:t>
            </a:r>
          </a:p>
        </p:txBody>
      </p:sp>
    </p:spTree>
    <p:extLst>
      <p:ext uri="{BB962C8B-B14F-4D97-AF65-F5344CB8AC3E}">
        <p14:creationId xmlns:p14="http://schemas.microsoft.com/office/powerpoint/2010/main" val="17593913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65959"/>
        </a:solidFill>
        <a:effectLst/>
      </p:bgPr>
    </p:bg>
    <p:spTree>
      <p:nvGrpSpPr>
        <p:cNvPr id="1" name="">
          <a:extLst>
            <a:ext uri="{FF2B5EF4-FFF2-40B4-BE49-F238E27FC236}">
              <a16:creationId xmlns:a16="http://schemas.microsoft.com/office/drawing/2014/main" id="{4FBB29F4-8630-B1C3-07F4-8B49AFACEFFD}"/>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77907017-2358-9E07-C379-D66E95F119DE}"/>
              </a:ext>
            </a:extLst>
          </p:cNvPr>
          <p:cNvSpPr txBox="1"/>
          <p:nvPr/>
        </p:nvSpPr>
        <p:spPr>
          <a:xfrm>
            <a:off x="17259300" y="9210675"/>
            <a:ext cx="357317" cy="544508"/>
          </a:xfrm>
          <a:prstGeom prst="rect">
            <a:avLst/>
          </a:prstGeom>
        </p:spPr>
        <p:txBody>
          <a:bodyPr lIns="0" tIns="0" rIns="0" bIns="0" rtlCol="0" anchor="t">
            <a:spAutoFit/>
          </a:bodyPr>
          <a:lstStyle/>
          <a:p>
            <a:pPr marL="0" lvl="1" indent="0" algn="l">
              <a:lnSpc>
                <a:spcPts val="2216"/>
              </a:lnSpc>
              <a:spcBef>
                <a:spcPct val="0"/>
              </a:spcBef>
            </a:pPr>
            <a:endParaRPr lang="en-US" sz="1583" dirty="0">
              <a:solidFill>
                <a:srgbClr val="094142"/>
              </a:solidFill>
              <a:latin typeface="Roboto"/>
              <a:ea typeface="Roboto"/>
              <a:cs typeface="Roboto"/>
              <a:sym typeface="Roboto"/>
            </a:endParaRPr>
          </a:p>
          <a:p>
            <a:pPr marL="0" lvl="1" indent="0" algn="l">
              <a:lnSpc>
                <a:spcPts val="2216"/>
              </a:lnSpc>
              <a:spcBef>
                <a:spcPct val="0"/>
              </a:spcBef>
            </a:pPr>
            <a:endParaRPr lang="en-US" sz="1583" dirty="0">
              <a:solidFill>
                <a:srgbClr val="094142"/>
              </a:solidFill>
              <a:latin typeface="Roboto"/>
              <a:ea typeface="Roboto"/>
              <a:cs typeface="Roboto"/>
              <a:sym typeface="Roboto"/>
            </a:endParaRPr>
          </a:p>
        </p:txBody>
      </p:sp>
      <p:sp>
        <p:nvSpPr>
          <p:cNvPr id="9" name="TextBox 9">
            <a:extLst>
              <a:ext uri="{FF2B5EF4-FFF2-40B4-BE49-F238E27FC236}">
                <a16:creationId xmlns:a16="http://schemas.microsoft.com/office/drawing/2014/main" id="{85473A3F-64A8-6ECD-43AD-CEBB8D7B0143}"/>
              </a:ext>
            </a:extLst>
          </p:cNvPr>
          <p:cNvSpPr txBox="1"/>
          <p:nvPr/>
        </p:nvSpPr>
        <p:spPr>
          <a:xfrm>
            <a:off x="4114800" y="7048500"/>
            <a:ext cx="10049461" cy="1104982"/>
          </a:xfrm>
          <a:prstGeom prst="rect">
            <a:avLst/>
          </a:prstGeom>
        </p:spPr>
        <p:txBody>
          <a:bodyPr wrap="square" lIns="0" tIns="0" rIns="0" bIns="0" rtlCol="0" anchor="t">
            <a:spAutoFit/>
          </a:bodyPr>
          <a:lstStyle/>
          <a:p>
            <a:pPr algn="ctr">
              <a:lnSpc>
                <a:spcPts val="7700"/>
              </a:lnSpc>
            </a:pPr>
            <a:r>
              <a:rPr lang="en-US" sz="11500" b="1" dirty="0">
                <a:solidFill>
                  <a:srgbClr val="FBB111"/>
                </a:solidFill>
                <a:latin typeface="Montserrat Bold"/>
                <a:ea typeface="Montserrat Bold"/>
                <a:cs typeface="Montserrat Bold"/>
                <a:sym typeface="Montserrat Bold"/>
              </a:rPr>
              <a:t>THANK YOU</a:t>
            </a:r>
          </a:p>
        </p:txBody>
      </p:sp>
      <p:sp>
        <p:nvSpPr>
          <p:cNvPr id="16" name="TextBox 16">
            <a:extLst>
              <a:ext uri="{FF2B5EF4-FFF2-40B4-BE49-F238E27FC236}">
                <a16:creationId xmlns:a16="http://schemas.microsoft.com/office/drawing/2014/main" id="{0EE4B49D-66E2-B5AF-3DDE-1C6B292730AF}"/>
              </a:ext>
            </a:extLst>
          </p:cNvPr>
          <p:cNvSpPr txBox="1"/>
          <p:nvPr/>
        </p:nvSpPr>
        <p:spPr>
          <a:xfrm>
            <a:off x="7442442" y="5233224"/>
            <a:ext cx="4469" cy="551224"/>
          </a:xfrm>
          <a:prstGeom prst="rect">
            <a:avLst/>
          </a:prstGeom>
        </p:spPr>
        <p:txBody>
          <a:bodyPr lIns="0" tIns="0" rIns="0" bIns="0" rtlCol="0" anchor="t">
            <a:spAutoFit/>
          </a:bodyPr>
          <a:lstStyle/>
          <a:p>
            <a:pPr algn="ctr">
              <a:lnSpc>
                <a:spcPts val="2233"/>
              </a:lnSpc>
            </a:pPr>
            <a:endParaRPr/>
          </a:p>
          <a:p>
            <a:pPr algn="ctr">
              <a:lnSpc>
                <a:spcPts val="2233"/>
              </a:lnSpc>
            </a:pPr>
            <a:endParaRPr/>
          </a:p>
        </p:txBody>
      </p:sp>
      <p:sp>
        <p:nvSpPr>
          <p:cNvPr id="22" name="TextBox 22">
            <a:extLst>
              <a:ext uri="{FF2B5EF4-FFF2-40B4-BE49-F238E27FC236}">
                <a16:creationId xmlns:a16="http://schemas.microsoft.com/office/drawing/2014/main" id="{0DB948C4-0AE9-F6B0-C11E-835B27E38DE0}"/>
              </a:ext>
            </a:extLst>
          </p:cNvPr>
          <p:cNvSpPr txBox="1"/>
          <p:nvPr/>
        </p:nvSpPr>
        <p:spPr>
          <a:xfrm>
            <a:off x="9823689" y="2532723"/>
            <a:ext cx="941844" cy="1159171"/>
          </a:xfrm>
          <a:prstGeom prst="rect">
            <a:avLst/>
          </a:prstGeom>
        </p:spPr>
        <p:txBody>
          <a:bodyPr lIns="50800" tIns="50800" rIns="50800" bIns="50800" rtlCol="0" anchor="ctr"/>
          <a:lstStyle/>
          <a:p>
            <a:pPr algn="ctr">
              <a:lnSpc>
                <a:spcPts val="6002"/>
              </a:lnSpc>
            </a:pPr>
            <a:endParaRPr lang="en-US" sz="4653" b="1" spc="-255" dirty="0">
              <a:solidFill>
                <a:srgbClr val="FAFAFA"/>
              </a:solidFill>
              <a:latin typeface="Roboto Bold"/>
              <a:ea typeface="Roboto Bold"/>
              <a:cs typeface="Roboto Bold"/>
              <a:sym typeface="Roboto Bold"/>
            </a:endParaRPr>
          </a:p>
        </p:txBody>
      </p:sp>
      <p:sp>
        <p:nvSpPr>
          <p:cNvPr id="6" name="TextBox 9">
            <a:extLst>
              <a:ext uri="{FF2B5EF4-FFF2-40B4-BE49-F238E27FC236}">
                <a16:creationId xmlns:a16="http://schemas.microsoft.com/office/drawing/2014/main" id="{5D3351B8-1461-D3B4-FC35-323C3EC76B0C}"/>
              </a:ext>
            </a:extLst>
          </p:cNvPr>
          <p:cNvSpPr txBox="1"/>
          <p:nvPr/>
        </p:nvSpPr>
        <p:spPr>
          <a:xfrm>
            <a:off x="2514600" y="1333500"/>
            <a:ext cx="13792200" cy="2962349"/>
          </a:xfrm>
          <a:prstGeom prst="rect">
            <a:avLst/>
          </a:prstGeom>
        </p:spPr>
        <p:txBody>
          <a:bodyPr wrap="square" lIns="0" tIns="0" rIns="0" bIns="0" rtlCol="0" anchor="t">
            <a:spAutoFit/>
          </a:bodyPr>
          <a:lstStyle/>
          <a:p>
            <a:pPr algn="ctr">
              <a:lnSpc>
                <a:spcPts val="7700"/>
              </a:lnSpc>
            </a:pPr>
            <a:r>
              <a:rPr lang="en-US" sz="6000" b="1" dirty="0" smtClean="0">
                <a:solidFill>
                  <a:srgbClr val="FFC000"/>
                </a:solidFill>
                <a:latin typeface="Arial Rounded MT Bold" panose="020F0704030504030204" pitchFamily="34" charset="0"/>
              </a:rPr>
              <a:t>“We Aren't Just Reporting History; We Are Using This Dashboard To Predict The Future And Win.”</a:t>
            </a:r>
            <a:endParaRPr lang="en-US" sz="5500" b="1" dirty="0">
              <a:solidFill>
                <a:srgbClr val="FFC000"/>
              </a:solidFill>
              <a:latin typeface="Arial Rounded MT Bold" panose="020F0704030504030204" pitchFamily="34" charset="0"/>
              <a:ea typeface="Montserrat Bold"/>
              <a:cs typeface="Montserrat Bold"/>
              <a:sym typeface="Montserrat Bold"/>
            </a:endParaRPr>
          </a:p>
        </p:txBody>
      </p:sp>
    </p:spTree>
    <p:extLst>
      <p:ext uri="{BB962C8B-B14F-4D97-AF65-F5344CB8AC3E}">
        <p14:creationId xmlns:p14="http://schemas.microsoft.com/office/powerpoint/2010/main" val="2280771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1081</TotalTime>
  <Words>962</Words>
  <Application>Microsoft Office PowerPoint</Application>
  <PresentationFormat>Custom</PresentationFormat>
  <Paragraphs>178</Paragraphs>
  <Slides>16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Montserrat</vt:lpstr>
      <vt:lpstr>Calibri</vt:lpstr>
      <vt:lpstr>Open Sans </vt:lpstr>
      <vt:lpstr>Arial</vt:lpstr>
      <vt:lpstr>Open Sans Bold</vt:lpstr>
      <vt:lpstr>Arial Rounded MT Bold</vt:lpstr>
      <vt:lpstr>Montserrat Bold</vt:lpstr>
      <vt:lpstr>Roboto</vt:lpstr>
      <vt:lpstr>Roboto Bold</vt:lpstr>
      <vt:lpstr>Open Sans</vt:lpstr>
      <vt:lpstr>Berlin Sans FB Demi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Yellow Modern Company Profile Presentation</dc:title>
  <dc:creator>Dell</dc:creator>
  <cp:lastModifiedBy>Dell</cp:lastModifiedBy>
  <cp:revision>64</cp:revision>
  <dcterms:created xsi:type="dcterms:W3CDTF">2006-08-16T00:00:00Z</dcterms:created>
  <dcterms:modified xsi:type="dcterms:W3CDTF">2026-03-03T13:06:18Z</dcterms:modified>
  <dc:identifier>DAHCCJF8fJ4</dc:identifier>
</cp:coreProperties>
</file>